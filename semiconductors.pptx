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7272"/>
    <a:srgbClr val="324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2FF848-D0CD-4A8F-AA4A-E95148119346}" v="277" dt="2024-12-05T17:12:05.844"/>
    <p1510:client id="{9C016F83-FDE7-41F9-994E-E02F8A0FA8DE}" v="2247" dt="2024-12-05T17:13:44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 Raunak Singh Bedi" userId="d712e77ef16d491a" providerId="LiveId" clId="{9C016F83-FDE7-41F9-994E-E02F8A0FA8DE}"/>
    <pc:docChg chg="undo redo custSel modSld">
      <pc:chgData name="Gur Raunak Singh Bedi" userId="d712e77ef16d491a" providerId="LiveId" clId="{9C016F83-FDE7-41F9-994E-E02F8A0FA8DE}" dt="2024-12-05T17:13:44.174" v="2243" actId="20577"/>
      <pc:docMkLst>
        <pc:docMk/>
      </pc:docMkLst>
      <pc:sldChg chg="addSp delSp modSp mod chgLayout">
        <pc:chgData name="Gur Raunak Singh Bedi" userId="d712e77ef16d491a" providerId="LiveId" clId="{9C016F83-FDE7-41F9-994E-E02F8A0FA8DE}" dt="2024-12-05T16:53:21.380" v="2131" actId="2085"/>
        <pc:sldMkLst>
          <pc:docMk/>
          <pc:sldMk cId="2572421469" sldId="256"/>
        </pc:sldMkLst>
        <pc:spChg chg="mod ord">
          <ac:chgData name="Gur Raunak Singh Bedi" userId="d712e77ef16d491a" providerId="LiveId" clId="{9C016F83-FDE7-41F9-994E-E02F8A0FA8DE}" dt="2024-12-05T16:51:45.546" v="2115" actId="1035"/>
          <ac:spMkLst>
            <pc:docMk/>
            <pc:sldMk cId="2572421469" sldId="256"/>
            <ac:spMk id="2" creationId="{86B3A30E-BC09-F9F3-5197-16DE34FC9861}"/>
          </ac:spMkLst>
        </pc:spChg>
        <pc:spChg chg="mod ord">
          <ac:chgData name="Gur Raunak Singh Bedi" userId="d712e77ef16d491a" providerId="LiveId" clId="{9C016F83-FDE7-41F9-994E-E02F8A0FA8DE}" dt="2024-12-05T16:51:45.546" v="2115" actId="1035"/>
          <ac:spMkLst>
            <pc:docMk/>
            <pc:sldMk cId="2572421469" sldId="256"/>
            <ac:spMk id="3" creationId="{80D244D8-B5E3-79BF-4E7F-3438E2F78679}"/>
          </ac:spMkLst>
        </pc:spChg>
        <pc:spChg chg="add del mod">
          <ac:chgData name="Gur Raunak Singh Bedi" userId="d712e77ef16d491a" providerId="LiveId" clId="{9C016F83-FDE7-41F9-994E-E02F8A0FA8DE}" dt="2024-12-05T16:31:00.943" v="1888" actId="6264"/>
          <ac:spMkLst>
            <pc:docMk/>
            <pc:sldMk cId="2572421469" sldId="256"/>
            <ac:spMk id="8" creationId="{5A73BD6E-877A-C740-92FF-A31CF6CD9C63}"/>
          </ac:spMkLst>
        </pc:spChg>
        <pc:spChg chg="add del mod">
          <ac:chgData name="Gur Raunak Singh Bedi" userId="d712e77ef16d491a" providerId="LiveId" clId="{9C016F83-FDE7-41F9-994E-E02F8A0FA8DE}" dt="2024-12-05T16:31:00.943" v="1888" actId="6264"/>
          <ac:spMkLst>
            <pc:docMk/>
            <pc:sldMk cId="2572421469" sldId="256"/>
            <ac:spMk id="9" creationId="{3ACBBDDE-F3BE-4B14-C15A-0A8BFB420011}"/>
          </ac:spMkLst>
        </pc:spChg>
        <pc:spChg chg="add mod">
          <ac:chgData name="Gur Raunak Singh Bedi" userId="d712e77ef16d491a" providerId="LiveId" clId="{9C016F83-FDE7-41F9-994E-E02F8A0FA8DE}" dt="2024-12-05T16:43:36.019" v="1986" actId="1076"/>
          <ac:spMkLst>
            <pc:docMk/>
            <pc:sldMk cId="2572421469" sldId="256"/>
            <ac:spMk id="12" creationId="{1B5053A7-523B-64DD-5E7F-FD4039BAB41B}"/>
          </ac:spMkLst>
        </pc:spChg>
        <pc:spChg chg="add mod">
          <ac:chgData name="Gur Raunak Singh Bedi" userId="d712e77ef16d491a" providerId="LiveId" clId="{9C016F83-FDE7-41F9-994E-E02F8A0FA8DE}" dt="2024-12-05T16:43:20.118" v="1983" actId="164"/>
          <ac:spMkLst>
            <pc:docMk/>
            <pc:sldMk cId="2572421469" sldId="256"/>
            <ac:spMk id="13" creationId="{6CD67FAC-FADC-18EA-7470-270BB7F15A83}"/>
          </ac:spMkLst>
        </pc:spChg>
        <pc:spChg chg="add del mod">
          <ac:chgData name="Gur Raunak Singh Bedi" userId="d712e77ef16d491a" providerId="LiveId" clId="{9C016F83-FDE7-41F9-994E-E02F8A0FA8DE}" dt="2024-12-05T16:41:47.580" v="1969" actId="478"/>
          <ac:spMkLst>
            <pc:docMk/>
            <pc:sldMk cId="2572421469" sldId="256"/>
            <ac:spMk id="14" creationId="{A37CEF19-FE77-5E72-52FE-A3AEFCC1B0D0}"/>
          </ac:spMkLst>
        </pc:spChg>
        <pc:spChg chg="add del">
          <ac:chgData name="Gur Raunak Singh Bedi" userId="d712e77ef16d491a" providerId="LiveId" clId="{9C016F83-FDE7-41F9-994E-E02F8A0FA8DE}" dt="2024-12-05T16:42:13.110" v="1971" actId="478"/>
          <ac:spMkLst>
            <pc:docMk/>
            <pc:sldMk cId="2572421469" sldId="256"/>
            <ac:spMk id="15" creationId="{F645851B-EC59-EA7F-7649-756E45FBBDBF}"/>
          </ac:spMkLst>
        </pc:spChg>
        <pc:spChg chg="add del mod">
          <ac:chgData name="Gur Raunak Singh Bedi" userId="d712e77ef16d491a" providerId="LiveId" clId="{9C016F83-FDE7-41F9-994E-E02F8A0FA8DE}" dt="2024-12-05T16:43:15.213" v="1982" actId="478"/>
          <ac:spMkLst>
            <pc:docMk/>
            <pc:sldMk cId="2572421469" sldId="256"/>
            <ac:spMk id="16" creationId="{A2E2A4E2-6276-1139-F24E-54A2279368A9}"/>
          </ac:spMkLst>
        </pc:spChg>
        <pc:spChg chg="add mod">
          <ac:chgData name="Gur Raunak Singh Bedi" userId="d712e77ef16d491a" providerId="LiveId" clId="{9C016F83-FDE7-41F9-994E-E02F8A0FA8DE}" dt="2024-12-05T16:49:13.907" v="2044" actId="164"/>
          <ac:spMkLst>
            <pc:docMk/>
            <pc:sldMk cId="2572421469" sldId="256"/>
            <ac:spMk id="18" creationId="{543F5EDF-88F7-877F-619B-2D5F4B67FA4C}"/>
          </ac:spMkLst>
        </pc:spChg>
        <pc:spChg chg="add mod">
          <ac:chgData name="Gur Raunak Singh Bedi" userId="d712e77ef16d491a" providerId="LiveId" clId="{9C016F83-FDE7-41F9-994E-E02F8A0FA8DE}" dt="2024-12-05T16:49:13.907" v="2044" actId="164"/>
          <ac:spMkLst>
            <pc:docMk/>
            <pc:sldMk cId="2572421469" sldId="256"/>
            <ac:spMk id="19" creationId="{DC7D39FE-6752-9D36-EF6F-978562B79802}"/>
          </ac:spMkLst>
        </pc:spChg>
        <pc:spChg chg="add mod">
          <ac:chgData name="Gur Raunak Singh Bedi" userId="d712e77ef16d491a" providerId="LiveId" clId="{9C016F83-FDE7-41F9-994E-E02F8A0FA8DE}" dt="2024-12-05T16:49:13.907" v="2044" actId="164"/>
          <ac:spMkLst>
            <pc:docMk/>
            <pc:sldMk cId="2572421469" sldId="256"/>
            <ac:spMk id="20" creationId="{E8DFF89B-7CD8-BE9D-C975-D6A0770961B8}"/>
          </ac:spMkLst>
        </pc:spChg>
        <pc:spChg chg="add mod">
          <ac:chgData name="Gur Raunak Singh Bedi" userId="d712e77ef16d491a" providerId="LiveId" clId="{9C016F83-FDE7-41F9-994E-E02F8A0FA8DE}" dt="2024-12-05T16:49:38.886" v="2047" actId="164"/>
          <ac:spMkLst>
            <pc:docMk/>
            <pc:sldMk cId="2572421469" sldId="256"/>
            <ac:spMk id="22" creationId="{4EE9D088-C330-A410-7F35-7A18F96C18A9}"/>
          </ac:spMkLst>
        </pc:spChg>
        <pc:spChg chg="add del mod">
          <ac:chgData name="Gur Raunak Singh Bedi" userId="d712e77ef16d491a" providerId="LiveId" clId="{9C016F83-FDE7-41F9-994E-E02F8A0FA8DE}" dt="2024-12-05T16:52:22.017" v="2120" actId="478"/>
          <ac:spMkLst>
            <pc:docMk/>
            <pc:sldMk cId="2572421469" sldId="256"/>
            <ac:spMk id="24" creationId="{1D3531C1-C8CA-07CA-206F-A972213D3648}"/>
          </ac:spMkLst>
        </pc:spChg>
        <pc:spChg chg="add mod">
          <ac:chgData name="Gur Raunak Singh Bedi" userId="d712e77ef16d491a" providerId="LiveId" clId="{9C016F83-FDE7-41F9-994E-E02F8A0FA8DE}" dt="2024-12-05T16:53:18.543" v="2129" actId="2085"/>
          <ac:spMkLst>
            <pc:docMk/>
            <pc:sldMk cId="2572421469" sldId="256"/>
            <ac:spMk id="25" creationId="{2865B24D-F2D0-B971-BBAD-E79EF9388415}"/>
          </ac:spMkLst>
        </pc:spChg>
        <pc:spChg chg="add mod">
          <ac:chgData name="Gur Raunak Singh Bedi" userId="d712e77ef16d491a" providerId="LiveId" clId="{9C016F83-FDE7-41F9-994E-E02F8A0FA8DE}" dt="2024-12-05T16:53:21.380" v="2131" actId="2085"/>
          <ac:spMkLst>
            <pc:docMk/>
            <pc:sldMk cId="2572421469" sldId="256"/>
            <ac:spMk id="26" creationId="{44CB833C-9881-0DB5-5414-99B18018A492}"/>
          </ac:spMkLst>
        </pc:spChg>
        <pc:grpChg chg="add mod">
          <ac:chgData name="Gur Raunak Singh Bedi" userId="d712e77ef16d491a" providerId="LiveId" clId="{9C016F83-FDE7-41F9-994E-E02F8A0FA8DE}" dt="2024-12-05T16:49:13.907" v="2044" actId="164"/>
          <ac:grpSpMkLst>
            <pc:docMk/>
            <pc:sldMk cId="2572421469" sldId="256"/>
            <ac:grpSpMk id="17" creationId="{DD89F17A-DECD-B459-2DEA-3A820929F21D}"/>
          </ac:grpSpMkLst>
        </pc:grpChg>
        <pc:grpChg chg="add mod">
          <ac:chgData name="Gur Raunak Singh Bedi" userId="d712e77ef16d491a" providerId="LiveId" clId="{9C016F83-FDE7-41F9-994E-E02F8A0FA8DE}" dt="2024-12-05T16:49:38.886" v="2047" actId="164"/>
          <ac:grpSpMkLst>
            <pc:docMk/>
            <pc:sldMk cId="2572421469" sldId="256"/>
            <ac:grpSpMk id="21" creationId="{E4FD35D8-A0A9-9501-3340-D1B20A46F75B}"/>
          </ac:grpSpMkLst>
        </pc:grpChg>
        <pc:grpChg chg="add mod">
          <ac:chgData name="Gur Raunak Singh Bedi" userId="d712e77ef16d491a" providerId="LiveId" clId="{9C016F83-FDE7-41F9-994E-E02F8A0FA8DE}" dt="2024-12-05T16:53:15.568" v="2127" actId="164"/>
          <ac:grpSpMkLst>
            <pc:docMk/>
            <pc:sldMk cId="2572421469" sldId="256"/>
            <ac:grpSpMk id="23" creationId="{BBB6E8FF-7CCF-4F91-5722-9CAD399B442A}"/>
          </ac:grpSpMkLst>
        </pc:grpChg>
        <pc:grpChg chg="add mod">
          <ac:chgData name="Gur Raunak Singh Bedi" userId="d712e77ef16d491a" providerId="LiveId" clId="{9C016F83-FDE7-41F9-994E-E02F8A0FA8DE}" dt="2024-12-05T16:53:15.568" v="2127" actId="164"/>
          <ac:grpSpMkLst>
            <pc:docMk/>
            <pc:sldMk cId="2572421469" sldId="256"/>
            <ac:grpSpMk id="27" creationId="{A23E27CD-48F0-224B-E725-C84E47B2EBD9}"/>
          </ac:grpSpMkLst>
        </pc:grpChg>
        <pc:picChg chg="add del mod modCrop">
          <ac:chgData name="Gur Raunak Singh Bedi" userId="d712e77ef16d491a" providerId="LiveId" clId="{9C016F83-FDE7-41F9-994E-E02F8A0FA8DE}" dt="2024-12-05T16:29:56.940" v="1885" actId="478"/>
          <ac:picMkLst>
            <pc:docMk/>
            <pc:sldMk cId="2572421469" sldId="256"/>
            <ac:picMk id="6" creationId="{CF27BC82-791A-528D-3640-0C773F202C7F}"/>
          </ac:picMkLst>
        </pc:picChg>
        <pc:picChg chg="add del mod modCrop">
          <ac:chgData name="Gur Raunak Singh Bedi" userId="d712e77ef16d491a" providerId="LiveId" clId="{9C016F83-FDE7-41F9-994E-E02F8A0FA8DE}" dt="2024-12-05T16:29:54.179" v="1884" actId="478"/>
          <ac:picMkLst>
            <pc:docMk/>
            <pc:sldMk cId="2572421469" sldId="256"/>
            <ac:picMk id="7" creationId="{B6EB559D-3451-D7B6-F46A-BE423673A9D1}"/>
          </ac:picMkLst>
        </pc:picChg>
        <pc:cxnChg chg="add del">
          <ac:chgData name="Gur Raunak Singh Bedi" userId="d712e77ef16d491a" providerId="LiveId" clId="{9C016F83-FDE7-41F9-994E-E02F8A0FA8DE}" dt="2024-12-05T16:37:51.249" v="1950" actId="478"/>
          <ac:cxnSpMkLst>
            <pc:docMk/>
            <pc:sldMk cId="2572421469" sldId="256"/>
            <ac:cxnSpMk id="11" creationId="{87A7F03F-B9C8-BD65-48AE-632111D95DFD}"/>
          </ac:cxnSpMkLst>
        </pc:cxnChg>
      </pc:sldChg>
      <pc:sldChg chg="addSp delSp modSp mod setBg chgLayout">
        <pc:chgData name="Gur Raunak Singh Bedi" userId="d712e77ef16d491a" providerId="LiveId" clId="{9C016F83-FDE7-41F9-994E-E02F8A0FA8DE}" dt="2024-12-05T16:53:51.219" v="2157" actId="14100"/>
        <pc:sldMkLst>
          <pc:docMk/>
          <pc:sldMk cId="69615308" sldId="257"/>
        </pc:sldMkLst>
        <pc:spChg chg="del mod">
          <ac:chgData name="Gur Raunak Singh Bedi" userId="d712e77ef16d491a" providerId="LiveId" clId="{9C016F83-FDE7-41F9-994E-E02F8A0FA8DE}" dt="2024-12-05T16:31:03.400" v="1890" actId="6264"/>
          <ac:spMkLst>
            <pc:docMk/>
            <pc:sldMk cId="69615308" sldId="257"/>
            <ac:spMk id="2" creationId="{9105A47C-1A26-39D5-184C-DB2486675CB4}"/>
          </ac:spMkLst>
        </pc:spChg>
        <pc:spChg chg="del mod">
          <ac:chgData name="Gur Raunak Singh Bedi" userId="d712e77ef16d491a" providerId="LiveId" clId="{9C016F83-FDE7-41F9-994E-E02F8A0FA8DE}" dt="2024-12-05T16:31:03.400" v="1890" actId="6264"/>
          <ac:spMkLst>
            <pc:docMk/>
            <pc:sldMk cId="69615308" sldId="257"/>
            <ac:spMk id="3" creationId="{B475BD9C-6FFE-3EDF-3685-B8E58FFA59E9}"/>
          </ac:spMkLst>
        </pc:spChg>
        <pc:spChg chg="add del mod ord">
          <ac:chgData name="Gur Raunak Singh Bedi" userId="d712e77ef16d491a" providerId="LiveId" clId="{9C016F83-FDE7-41F9-994E-E02F8A0FA8DE}" dt="2024-12-05T16:31:04.228" v="1891" actId="6264"/>
          <ac:spMkLst>
            <pc:docMk/>
            <pc:sldMk cId="69615308" sldId="257"/>
            <ac:spMk id="4" creationId="{CDBC867E-A2F8-9104-F013-2D310E325817}"/>
          </ac:spMkLst>
        </pc:spChg>
        <pc:spChg chg="add del mod ord">
          <ac:chgData name="Gur Raunak Singh Bedi" userId="d712e77ef16d491a" providerId="LiveId" clId="{9C016F83-FDE7-41F9-994E-E02F8A0FA8DE}" dt="2024-12-05T16:31:04.228" v="1891" actId="6264"/>
          <ac:spMkLst>
            <pc:docMk/>
            <pc:sldMk cId="69615308" sldId="257"/>
            <ac:spMk id="5" creationId="{B4C5CFD6-D3CA-5360-05B7-F47E4040419B}"/>
          </ac:spMkLst>
        </pc:spChg>
        <pc:spChg chg="add del mod ord">
          <ac:chgData name="Gur Raunak Singh Bedi" userId="d712e77ef16d491a" providerId="LiveId" clId="{9C016F83-FDE7-41F9-994E-E02F8A0FA8DE}" dt="2024-12-05T16:31:04.390" v="1892" actId="6264"/>
          <ac:spMkLst>
            <pc:docMk/>
            <pc:sldMk cId="69615308" sldId="257"/>
            <ac:spMk id="6" creationId="{75E2B37A-C2E1-A3D7-7DC3-310DD4EE6A71}"/>
          </ac:spMkLst>
        </pc:spChg>
        <pc:spChg chg="add del mod ord">
          <ac:chgData name="Gur Raunak Singh Bedi" userId="d712e77ef16d491a" providerId="LiveId" clId="{9C016F83-FDE7-41F9-994E-E02F8A0FA8DE}" dt="2024-12-05T16:31:04.390" v="1892" actId="6264"/>
          <ac:spMkLst>
            <pc:docMk/>
            <pc:sldMk cId="69615308" sldId="257"/>
            <ac:spMk id="7" creationId="{BDD8C491-A48C-4C12-383B-8F616447EA9E}"/>
          </ac:spMkLst>
        </pc:spChg>
        <pc:spChg chg="add del mod ord">
          <ac:chgData name="Gur Raunak Singh Bedi" userId="d712e77ef16d491a" providerId="LiveId" clId="{9C016F83-FDE7-41F9-994E-E02F8A0FA8DE}" dt="2024-12-05T16:31:04.548" v="1893" actId="6264"/>
          <ac:spMkLst>
            <pc:docMk/>
            <pc:sldMk cId="69615308" sldId="257"/>
            <ac:spMk id="8" creationId="{9D99B9B1-129C-39D6-E6DC-798915722889}"/>
          </ac:spMkLst>
        </pc:spChg>
        <pc:spChg chg="add del mod ord">
          <ac:chgData name="Gur Raunak Singh Bedi" userId="d712e77ef16d491a" providerId="LiveId" clId="{9C016F83-FDE7-41F9-994E-E02F8A0FA8DE}" dt="2024-12-05T16:31:04.548" v="1893" actId="6264"/>
          <ac:spMkLst>
            <pc:docMk/>
            <pc:sldMk cId="69615308" sldId="257"/>
            <ac:spMk id="9" creationId="{EC6E4BB6-FDBD-B435-1514-BA9919C3B63B}"/>
          </ac:spMkLst>
        </pc:spChg>
        <pc:spChg chg="add mod ord">
          <ac:chgData name="Gur Raunak Singh Bedi" userId="d712e77ef16d491a" providerId="LiveId" clId="{9C016F83-FDE7-41F9-994E-E02F8A0FA8DE}" dt="2024-12-05T16:53:51.219" v="2157" actId="14100"/>
          <ac:spMkLst>
            <pc:docMk/>
            <pc:sldMk cId="69615308" sldId="257"/>
            <ac:spMk id="10" creationId="{EEA69D00-6A2C-63EA-9AE8-FF1F1E9FAD5E}"/>
          </ac:spMkLst>
        </pc:spChg>
        <pc:spChg chg="add mod ord">
          <ac:chgData name="Gur Raunak Singh Bedi" userId="d712e77ef16d491a" providerId="LiveId" clId="{9C016F83-FDE7-41F9-994E-E02F8A0FA8DE}" dt="2024-12-05T16:31:43.962" v="1897"/>
          <ac:spMkLst>
            <pc:docMk/>
            <pc:sldMk cId="69615308" sldId="257"/>
            <ac:spMk id="11" creationId="{C0F0B94B-31AA-BD56-1906-7D9D0EF4FDB9}"/>
          </ac:spMkLst>
        </pc:spChg>
      </pc:sldChg>
      <pc:sldChg chg="modSp mod setBg">
        <pc:chgData name="Gur Raunak Singh Bedi" userId="d712e77ef16d491a" providerId="LiveId" clId="{9C016F83-FDE7-41F9-994E-E02F8A0FA8DE}" dt="2024-12-05T17:13:44.174" v="2243" actId="20577"/>
        <pc:sldMkLst>
          <pc:docMk/>
          <pc:sldMk cId="1019360652" sldId="258"/>
        </pc:sldMkLst>
        <pc:spChg chg="mod">
          <ac:chgData name="Gur Raunak Singh Bedi" userId="d712e77ef16d491a" providerId="LiveId" clId="{9C016F83-FDE7-41F9-994E-E02F8A0FA8DE}" dt="2024-12-05T17:11:53.760" v="2242" actId="313"/>
          <ac:spMkLst>
            <pc:docMk/>
            <pc:sldMk cId="1019360652" sldId="258"/>
            <ac:spMk id="2" creationId="{FA15B2AF-69DA-4EEC-BD82-BCDD5CC89843}"/>
          </ac:spMkLst>
        </pc:spChg>
        <pc:spChg chg="mod">
          <ac:chgData name="Gur Raunak Singh Bedi" userId="d712e77ef16d491a" providerId="LiveId" clId="{9C016F83-FDE7-41F9-994E-E02F8A0FA8DE}" dt="2024-12-05T17:13:44.174" v="2243" actId="20577"/>
          <ac:spMkLst>
            <pc:docMk/>
            <pc:sldMk cId="1019360652" sldId="258"/>
            <ac:spMk id="3" creationId="{E18EA52C-D3C2-1A4D-398C-01BEFBFADE8C}"/>
          </ac:spMkLst>
        </pc:spChg>
      </pc:sldChg>
    </pc:docChg>
  </pc:docChgLst>
  <pc:docChgLst>
    <pc:chgData name="Amar Bharj" userId="4e325be61e68b113" providerId="Windows Live" clId="Web-{4C2FF848-D0CD-4A8F-AA4A-E95148119346}"/>
    <pc:docChg chg="addSld modSld">
      <pc:chgData name="Amar Bharj" userId="4e325be61e68b113" providerId="Windows Live" clId="Web-{4C2FF848-D0CD-4A8F-AA4A-E95148119346}" dt="2024-12-05T17:12:05.844" v="205" actId="20577"/>
      <pc:docMkLst>
        <pc:docMk/>
      </pc:docMkLst>
      <pc:sldChg chg="modSp">
        <pc:chgData name="Amar Bharj" userId="4e325be61e68b113" providerId="Windows Live" clId="Web-{4C2FF848-D0CD-4A8F-AA4A-E95148119346}" dt="2024-12-05T16:26:39.570" v="48" actId="14100"/>
        <pc:sldMkLst>
          <pc:docMk/>
          <pc:sldMk cId="2572421469" sldId="256"/>
        </pc:sldMkLst>
        <pc:spChg chg="mod">
          <ac:chgData name="Amar Bharj" userId="4e325be61e68b113" providerId="Windows Live" clId="Web-{4C2FF848-D0CD-4A8F-AA4A-E95148119346}" dt="2024-12-05T16:09:56.727" v="3" actId="20577"/>
          <ac:spMkLst>
            <pc:docMk/>
            <pc:sldMk cId="2572421469" sldId="256"/>
            <ac:spMk id="2" creationId="{86B3A30E-BC09-F9F3-5197-16DE34FC9861}"/>
          </ac:spMkLst>
        </pc:spChg>
        <pc:spChg chg="mod">
          <ac:chgData name="Amar Bharj" userId="4e325be61e68b113" providerId="Windows Live" clId="Web-{4C2FF848-D0CD-4A8F-AA4A-E95148119346}" dt="2024-12-05T16:10:33.369" v="46" actId="20577"/>
          <ac:spMkLst>
            <pc:docMk/>
            <pc:sldMk cId="2572421469" sldId="256"/>
            <ac:spMk id="3" creationId="{80D244D8-B5E3-79BF-4E7F-3438E2F78679}"/>
          </ac:spMkLst>
        </pc:spChg>
        <pc:picChg chg="mod">
          <ac:chgData name="Amar Bharj" userId="4e325be61e68b113" providerId="Windows Live" clId="Web-{4C2FF848-D0CD-4A8F-AA4A-E95148119346}" dt="2024-12-05T16:26:39.570" v="48" actId="14100"/>
          <ac:picMkLst>
            <pc:docMk/>
            <pc:sldMk cId="2572421469" sldId="256"/>
            <ac:picMk id="7" creationId="{B6EB559D-3451-D7B6-F46A-BE423673A9D1}"/>
          </ac:picMkLst>
        </pc:picChg>
      </pc:sldChg>
      <pc:sldChg chg="addSp delSp modSp new">
        <pc:chgData name="Amar Bharj" userId="4e325be61e68b113" providerId="Windows Live" clId="Web-{4C2FF848-D0CD-4A8F-AA4A-E95148119346}" dt="2024-12-05T17:01:01.416" v="159"/>
        <pc:sldMkLst>
          <pc:docMk/>
          <pc:sldMk cId="69615308" sldId="257"/>
        </pc:sldMkLst>
        <pc:spChg chg="add del mod">
          <ac:chgData name="Amar Bharj" userId="4e325be61e68b113" providerId="Windows Live" clId="Web-{4C2FF848-D0CD-4A8F-AA4A-E95148119346}" dt="2024-12-05T17:01:01.416" v="159"/>
          <ac:spMkLst>
            <pc:docMk/>
            <pc:sldMk cId="69615308" sldId="257"/>
            <ac:spMk id="2" creationId="{1D84AB57-C3E4-E0E9-FFCA-164E9132E7F3}"/>
          </ac:spMkLst>
        </pc:spChg>
        <pc:spChg chg="mod">
          <ac:chgData name="Amar Bharj" userId="4e325be61e68b113" providerId="Windows Live" clId="Web-{4C2FF848-D0CD-4A8F-AA4A-E95148119346}" dt="2024-12-05T16:58:17.051" v="82" actId="20577"/>
          <ac:spMkLst>
            <pc:docMk/>
            <pc:sldMk cId="69615308" sldId="257"/>
            <ac:spMk id="10" creationId="{EEA69D00-6A2C-63EA-9AE8-FF1F1E9FAD5E}"/>
          </ac:spMkLst>
        </pc:spChg>
        <pc:spChg chg="mod">
          <ac:chgData name="Amar Bharj" userId="4e325be61e68b113" providerId="Windows Live" clId="Web-{4C2FF848-D0CD-4A8F-AA4A-E95148119346}" dt="2024-12-05T16:51:56.226" v="55" actId="20577"/>
          <ac:spMkLst>
            <pc:docMk/>
            <pc:sldMk cId="69615308" sldId="257"/>
            <ac:spMk id="11" creationId="{C0F0B94B-31AA-BD56-1906-7D9D0EF4FDB9}"/>
          </ac:spMkLst>
        </pc:spChg>
      </pc:sldChg>
      <pc:sldChg chg="modSp new">
        <pc:chgData name="Amar Bharj" userId="4e325be61e68b113" providerId="Windows Live" clId="Web-{4C2FF848-D0CD-4A8F-AA4A-E95148119346}" dt="2024-12-05T17:12:05.844" v="205" actId="20577"/>
        <pc:sldMkLst>
          <pc:docMk/>
          <pc:sldMk cId="1019360652" sldId="258"/>
        </pc:sldMkLst>
        <pc:spChg chg="mod">
          <ac:chgData name="Amar Bharj" userId="4e325be61e68b113" providerId="Windows Live" clId="Web-{4C2FF848-D0CD-4A8F-AA4A-E95148119346}" dt="2024-12-05T17:09:44.574" v="203" actId="20577"/>
          <ac:spMkLst>
            <pc:docMk/>
            <pc:sldMk cId="1019360652" sldId="258"/>
            <ac:spMk id="2" creationId="{FA15B2AF-69DA-4EEC-BD82-BCDD5CC89843}"/>
          </ac:spMkLst>
        </pc:spChg>
        <pc:spChg chg="mod">
          <ac:chgData name="Amar Bharj" userId="4e325be61e68b113" providerId="Windows Live" clId="Web-{4C2FF848-D0CD-4A8F-AA4A-E95148119346}" dt="2024-12-05T17:12:05.844" v="205" actId="20577"/>
          <ac:spMkLst>
            <pc:docMk/>
            <pc:sldMk cId="1019360652" sldId="258"/>
            <ac:spMk id="3" creationId="{E18EA52C-D3C2-1A4D-398C-01BEFBFADE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01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06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72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1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63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474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9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1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45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1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7899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19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68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13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3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0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45D55-FB64-41E7-9BC3-F302913175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B9818-98C9-4452-98D2-C1341F82A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1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A30E-BC09-F9F3-5197-16DE34FC9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0323" y="810143"/>
            <a:ext cx="9418155" cy="1819545"/>
          </a:xfrm>
        </p:spPr>
        <p:txBody>
          <a:bodyPr>
            <a:noAutofit/>
          </a:bodyPr>
          <a:lstStyle/>
          <a:p>
            <a:r>
              <a:rPr lang="en-US" sz="5400" dirty="0"/>
              <a:t>Zener Diodes: An extension of semiconductors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244D8-B5E3-79BF-4E7F-3438E2F7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9349" y="2629689"/>
            <a:ext cx="8791575" cy="4746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>
                <a:solidFill>
                  <a:schemeClr val="tx1"/>
                </a:solidFill>
              </a:rPr>
              <a:t> by Amarjeet Bharj and Gurraunak Singh Bedi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23E27CD-48F0-224B-E725-C84E47B2EBD9}"/>
              </a:ext>
            </a:extLst>
          </p:cNvPr>
          <p:cNvGrpSpPr/>
          <p:nvPr/>
        </p:nvGrpSpPr>
        <p:grpSpPr>
          <a:xfrm>
            <a:off x="3760787" y="3990980"/>
            <a:ext cx="4996658" cy="1762121"/>
            <a:chOff x="3760787" y="3990980"/>
            <a:chExt cx="4996658" cy="176212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B6E8FF-7CCF-4F91-5722-9CAD399B442A}"/>
                </a:ext>
              </a:extLst>
            </p:cNvPr>
            <p:cNvGrpSpPr/>
            <p:nvPr/>
          </p:nvGrpSpPr>
          <p:grpSpPr>
            <a:xfrm>
              <a:off x="3905250" y="3990980"/>
              <a:ext cx="4703762" cy="1762121"/>
              <a:chOff x="3829050" y="4286251"/>
              <a:chExt cx="4703762" cy="1762121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4FD35D8-A0A9-9501-3340-D1B20A46F75B}"/>
                  </a:ext>
                </a:extLst>
              </p:cNvPr>
              <p:cNvGrpSpPr/>
              <p:nvPr/>
            </p:nvGrpSpPr>
            <p:grpSpPr>
              <a:xfrm>
                <a:off x="3829050" y="4286251"/>
                <a:ext cx="2933700" cy="1762121"/>
                <a:chOff x="3829050" y="4286251"/>
                <a:chExt cx="2933700" cy="1762121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DD89F17A-DECD-B459-2DEA-3A820929F21D}"/>
                    </a:ext>
                  </a:extLst>
                </p:cNvPr>
                <p:cNvGrpSpPr/>
                <p:nvPr/>
              </p:nvGrpSpPr>
              <p:grpSpPr>
                <a:xfrm>
                  <a:off x="3829050" y="4610099"/>
                  <a:ext cx="2711450" cy="1114425"/>
                  <a:chOff x="3848100" y="4000499"/>
                  <a:chExt cx="2711450" cy="1114425"/>
                </a:xfrm>
              </p:grpSpPr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1B5053A7-523B-64DD-5E7F-FD4039BAB41B}"/>
                      </a:ext>
                    </a:extLst>
                  </p:cNvPr>
                  <p:cNvSpPr/>
                  <p:nvPr/>
                </p:nvSpPr>
                <p:spPr>
                  <a:xfrm>
                    <a:off x="3848100" y="4524375"/>
                    <a:ext cx="2009775" cy="66675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" name="Isosceles Triangle 12">
                    <a:extLst>
                      <a:ext uri="{FF2B5EF4-FFF2-40B4-BE49-F238E27FC236}">
                        <a16:creationId xmlns:a16="http://schemas.microsoft.com/office/drawing/2014/main" id="{6CD67FAC-FADC-18EA-7470-270BB7F15A8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629275" y="4184650"/>
                    <a:ext cx="1114425" cy="746124"/>
                  </a:xfrm>
                  <a:prstGeom prst="triangle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543F5EDF-88F7-877F-619B-2D5F4B67FA4C}"/>
                    </a:ext>
                  </a:extLst>
                </p:cNvPr>
                <p:cNvSpPr/>
                <p:nvPr/>
              </p:nvSpPr>
              <p:spPr>
                <a:xfrm>
                  <a:off x="6530976" y="4610098"/>
                  <a:ext cx="107950" cy="1114427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Parallelogram 18">
                  <a:extLst>
                    <a:ext uri="{FF2B5EF4-FFF2-40B4-BE49-F238E27FC236}">
                      <a16:creationId xmlns:a16="http://schemas.microsoft.com/office/drawing/2014/main" id="{DC7D39FE-6752-9D36-EF6F-978562B79802}"/>
                    </a:ext>
                  </a:extLst>
                </p:cNvPr>
                <p:cNvSpPr/>
                <p:nvPr/>
              </p:nvSpPr>
              <p:spPr>
                <a:xfrm>
                  <a:off x="6530975" y="4286251"/>
                  <a:ext cx="231775" cy="333372"/>
                </a:xfrm>
                <a:prstGeom prst="parallelogram">
                  <a:avLst>
                    <a:gd name="adj" fmla="val 55349"/>
                  </a:avLst>
                </a:prstGeom>
                <a:solidFill>
                  <a:schemeClr val="tx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Parallelogram 19">
                  <a:extLst>
                    <a:ext uri="{FF2B5EF4-FFF2-40B4-BE49-F238E27FC236}">
                      <a16:creationId xmlns:a16="http://schemas.microsoft.com/office/drawing/2014/main" id="{E8DFF89B-7CD8-BE9D-C975-D6A0770961B8}"/>
                    </a:ext>
                  </a:extLst>
                </p:cNvPr>
                <p:cNvSpPr/>
                <p:nvPr/>
              </p:nvSpPr>
              <p:spPr>
                <a:xfrm>
                  <a:off x="6407150" y="5715000"/>
                  <a:ext cx="231775" cy="333372"/>
                </a:xfrm>
                <a:prstGeom prst="parallelogram">
                  <a:avLst>
                    <a:gd name="adj" fmla="val 55349"/>
                  </a:avLst>
                </a:prstGeom>
                <a:solidFill>
                  <a:schemeClr val="tx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EE9D088-C330-A410-7F35-7A18F96C18A9}"/>
                  </a:ext>
                </a:extLst>
              </p:cNvPr>
              <p:cNvSpPr/>
              <p:nvPr/>
            </p:nvSpPr>
            <p:spPr>
              <a:xfrm>
                <a:off x="6523037" y="5133975"/>
                <a:ext cx="2009775" cy="666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865B24D-F2D0-B971-BBAD-E79EF9388415}"/>
                </a:ext>
              </a:extLst>
            </p:cNvPr>
            <p:cNvSpPr/>
            <p:nvPr/>
          </p:nvSpPr>
          <p:spPr>
            <a:xfrm>
              <a:off x="3760787" y="4729163"/>
              <a:ext cx="280988" cy="285754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4CB833C-9881-0DB5-5414-99B18018A492}"/>
                </a:ext>
              </a:extLst>
            </p:cNvPr>
            <p:cNvSpPr/>
            <p:nvPr/>
          </p:nvSpPr>
          <p:spPr>
            <a:xfrm>
              <a:off x="8476457" y="4729163"/>
              <a:ext cx="280988" cy="285754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242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EA69D00-6A2C-63EA-9AE8-FF1F1E9F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13" y="430961"/>
            <a:ext cx="9590086" cy="895957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What are semiconductors?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0F0B94B-31AA-BD56-1906-7D9D0EF4F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26918"/>
            <a:ext cx="9905999" cy="25307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Semiconductors are materials with electrical conductivity between that of conductors and insulators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Two main types – P-type semiconductor and N-type semiconductor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Their behavior can be controlled by doping, temperature, or applied voltage.</a:t>
            </a:r>
          </a:p>
        </p:txBody>
      </p:sp>
      <p:pic>
        <p:nvPicPr>
          <p:cNvPr id="1026" name="Picture 2" descr="&quot;Types">
            <a:extLst>
              <a:ext uri="{FF2B5EF4-FFF2-40B4-BE49-F238E27FC236}">
                <a16:creationId xmlns:a16="http://schemas.microsoft.com/office/drawing/2014/main" id="{2D487F97-6ECE-0C6A-B0A1-5E6BF577BC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035" b="86979" l="12793" r="47852">
                        <a14:foregroundMark x1="47070" y1="43750" x2="47168" y2="51215"/>
                        <a14:foregroundMark x1="13477" y1="44097" x2="12793" y2="55556"/>
                        <a14:foregroundMark x1="30176" y1="30382" x2="47656" y2="30035"/>
                        <a14:foregroundMark x1="47656" y1="30035" x2="47754" y2="30035"/>
                        <a14:foregroundMark x1="47949" y1="44444" x2="47852" y2="46701"/>
                        <a14:foregroundMark x1="15527" y1="33160" x2="20117" y2="33160"/>
                        <a14:foregroundMark x1="12988" y1="85069" x2="22070" y2="84375"/>
                        <a14:foregroundMark x1="22070" y1="84375" x2="28320" y2="85069"/>
                        <a14:foregroundMark x1="12305" y1="86979" x2="19727" y2="86458"/>
                        <a14:foregroundMark x1="19727" y1="86458" x2="28125" y2="86979"/>
                        <a14:foregroundMark x1="34082" y1="85417" x2="47070" y2="85417"/>
                        <a14:foregroundMark x1="12891" y1="83507" x2="19238" y2="82465"/>
                        <a14:foregroundMark x1="19238" y1="82465" x2="26953" y2="82813"/>
                        <a14:foregroundMark x1="37891" y1="40625" x2="39648" y2="35243"/>
                        <a14:foregroundMark x1="23438" y1="74479" x2="20215" y2="79861"/>
                        <a14:foregroundMark x1="36719" y1="82292" x2="38477" y2="82292"/>
                        <a14:foregroundMark x1="36328" y1="82639" x2="42773" y2="81771"/>
                        <a14:foregroundMark x1="42773" y1="81771" x2="45215" y2="82639"/>
                        <a14:foregroundMark x1="39160" y1="73958" x2="36523" y2="81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052" t="25499" r="52255" b="11831"/>
          <a:stretch/>
        </p:blipFill>
        <p:spPr bwMode="auto">
          <a:xfrm>
            <a:off x="2687409" y="3858347"/>
            <a:ext cx="2600871" cy="2568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&quot;Types">
            <a:extLst>
              <a:ext uri="{FF2B5EF4-FFF2-40B4-BE49-F238E27FC236}">
                <a16:creationId xmlns:a16="http://schemas.microsoft.com/office/drawing/2014/main" id="{1BD26D37-5415-E5E5-605B-2357D9CC17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167" b="87500" l="53809" r="91797">
                        <a14:foregroundMark x1="55762" y1="44965" x2="55469" y2="52604"/>
                        <a14:foregroundMark x1="89648" y1="44271" x2="88672" y2="55556"/>
                        <a14:foregroundMark x1="57129" y1="31424" x2="73828" y2="31597"/>
                        <a14:foregroundMark x1="62109" y1="29340" x2="73535" y2="29340"/>
                        <a14:foregroundMark x1="86035" y1="32465" x2="87012" y2="33160"/>
                        <a14:foregroundMark x1="54492" y1="85590" x2="65332" y2="85243"/>
                        <a14:foregroundMark x1="65332" y1="85243" x2="71484" y2="85243"/>
                        <a14:foregroundMark x1="53613" y1="87153" x2="63867" y2="86806"/>
                        <a14:foregroundMark x1="63867" y1="86806" x2="72266" y2="87500"/>
                        <a14:foregroundMark x1="53809" y1="83854" x2="53809" y2="86806"/>
                        <a14:foregroundMark x1="78223" y1="84896" x2="91797" y2="84896"/>
                        <a14:foregroundMark x1="60449" y1="75174" x2="58691" y2="817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125" t="27834" r="7500" b="11500"/>
          <a:stretch/>
        </p:blipFill>
        <p:spPr bwMode="auto">
          <a:xfrm>
            <a:off x="6903721" y="3857670"/>
            <a:ext cx="2892179" cy="256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1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9C1F-B98D-0BC8-5DC9-326C0B8A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36546"/>
          </a:xfrm>
        </p:spPr>
        <p:txBody>
          <a:bodyPr>
            <a:normAutofit/>
          </a:bodyPr>
          <a:lstStyle/>
          <a:p>
            <a:r>
              <a:rPr lang="en-US" sz="4800" dirty="0"/>
              <a:t>Semiconductor diodes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F63F1-19D1-67BF-B8FF-368776DB4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55064"/>
            <a:ext cx="10005123" cy="1511252"/>
          </a:xfrm>
        </p:spPr>
        <p:txBody>
          <a:bodyPr>
            <a:noAutofit/>
          </a:bodyPr>
          <a:lstStyle/>
          <a:p>
            <a:r>
              <a:rPr lang="en-US" dirty="0"/>
              <a:t>A semiconductor diode is a device made from a p-n junction in a semiconductor material, allowing current to flow in one direction while blocking it in the opposite direction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34F5F1-52A6-78BB-45CE-870CA94BCA84}"/>
              </a:ext>
            </a:extLst>
          </p:cNvPr>
          <p:cNvGrpSpPr/>
          <p:nvPr/>
        </p:nvGrpSpPr>
        <p:grpSpPr>
          <a:xfrm>
            <a:off x="2480627" y="3225642"/>
            <a:ext cx="6953250" cy="3321058"/>
            <a:chOff x="2480627" y="3046738"/>
            <a:chExt cx="6953250" cy="332105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98BA16E-4442-5454-4232-4EA8111A3BF8}"/>
                </a:ext>
              </a:extLst>
            </p:cNvPr>
            <p:cNvGrpSpPr/>
            <p:nvPr/>
          </p:nvGrpSpPr>
          <p:grpSpPr>
            <a:xfrm>
              <a:off x="2480627" y="3046738"/>
              <a:ext cx="6953250" cy="2558535"/>
              <a:chOff x="2480627" y="3046738"/>
              <a:chExt cx="6953250" cy="2558535"/>
            </a:xfrm>
          </p:grpSpPr>
          <p:pic>
            <p:nvPicPr>
              <p:cNvPr id="1030" name="Picture 6" descr="Figure 1 from A Study on the Impact of PN-Junction Doping Concentration ...">
                <a:extLst>
                  <a:ext uri="{FF2B5EF4-FFF2-40B4-BE49-F238E27FC236}">
                    <a16:creationId xmlns:a16="http://schemas.microsoft.com/office/drawing/2014/main" id="{9CC93DBA-EEEC-4F16-4FDD-E4011BA52B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4384" r="98493">
                            <a14:foregroundMark x1="7808" y1="41724" x2="6438" y2="58621"/>
                            <a14:foregroundMark x1="94795" y1="36897" x2="94384" y2="55862"/>
                            <a14:foregroundMark x1="98630" y1="32069" x2="98630" y2="38276"/>
                            <a14:foregroundMark x1="4384" y1="43103" x2="4932" y2="51034"/>
                            <a14:foregroundMark x1="61096" y1="32069" x2="62740" y2="32414"/>
                            <a14:foregroundMark x1="63014" y1="32759" x2="62329" y2="31724"/>
                            <a14:foregroundMark x1="55205" y1="32414" x2="55890" y2="32414"/>
                            <a14:foregroundMark x1="63151" y1="32069" x2="64110" y2="32069"/>
                            <a14:backgroundMark x1="40137" y1="77241" x2="53288" y2="78276"/>
                          </a14:backgroundRemoval>
                        </a14:imgEffect>
                        <a14:imgEffect>
                          <a14:sharpenSoften amount="250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0583" b="23206"/>
              <a:stretch/>
            </p:blipFill>
            <p:spPr bwMode="auto">
              <a:xfrm>
                <a:off x="2480627" y="3429000"/>
                <a:ext cx="6953250" cy="21762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70F762-2A97-4240-329D-8AC4BACBCF98}"/>
                  </a:ext>
                </a:extLst>
              </p:cNvPr>
              <p:cNvSpPr txBox="1"/>
              <p:nvPr/>
            </p:nvSpPr>
            <p:spPr>
              <a:xfrm>
                <a:off x="3511296" y="3046738"/>
                <a:ext cx="21854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P-type semiconductor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002ACA-6041-E472-2CE6-A06581B0AE61}"/>
                  </a:ext>
                </a:extLst>
              </p:cNvPr>
              <p:cNvSpPr txBox="1"/>
              <p:nvPr/>
            </p:nvSpPr>
            <p:spPr>
              <a:xfrm>
                <a:off x="7074408" y="3063240"/>
                <a:ext cx="21854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N-type semiconductor</a:t>
                </a:r>
              </a:p>
            </p:txBody>
          </p:sp>
        </p:grpSp>
        <p:sp>
          <p:nvSpPr>
            <p:cNvPr id="7" name="Arrow: Left-Right-Up 6">
              <a:extLst>
                <a:ext uri="{FF2B5EF4-FFF2-40B4-BE49-F238E27FC236}">
                  <a16:creationId xmlns:a16="http://schemas.microsoft.com/office/drawing/2014/main" id="{CF809EEB-034E-06D2-11C7-9CCDD3D73573}"/>
                </a:ext>
              </a:extLst>
            </p:cNvPr>
            <p:cNvSpPr/>
            <p:nvPr/>
          </p:nvSpPr>
          <p:spPr>
            <a:xfrm rot="10800000">
              <a:off x="5175504" y="5618201"/>
              <a:ext cx="1133856" cy="489989"/>
            </a:xfrm>
            <a:prstGeom prst="leftRightUpArrow">
              <a:avLst>
                <a:gd name="adj1" fmla="val 11268"/>
                <a:gd name="adj2" fmla="val 7500"/>
                <a:gd name="adj3" fmla="val 3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C01E81B-4F00-6535-6C96-CFB72ED3B9B9}"/>
                </a:ext>
              </a:extLst>
            </p:cNvPr>
            <p:cNvSpPr txBox="1"/>
            <p:nvPr/>
          </p:nvSpPr>
          <p:spPr>
            <a:xfrm>
              <a:off x="4880608" y="5998464"/>
              <a:ext cx="1723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Depletion region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956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5B2AF-69DA-4EEC-BD82-BCDD5CC8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35378"/>
          </a:xfrm>
        </p:spPr>
        <p:txBody>
          <a:bodyPr>
            <a:normAutofit/>
          </a:bodyPr>
          <a:lstStyle/>
          <a:p>
            <a:r>
              <a:rPr lang="en-GB" sz="4800"/>
              <a:t>What are Zener diodes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EA52C-D3C2-1A4D-398C-01BEFBFA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475" y="1744324"/>
            <a:ext cx="9751874" cy="26441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Zener diodes are a special class of diodes designed to operate in reverse breakdown mode.  </a:t>
            </a:r>
          </a:p>
          <a:p>
            <a:r>
              <a:rPr lang="en-US" dirty="0"/>
              <a:t>Two main types – Zener breakdown diode and Avalanche breakdown Diode </a:t>
            </a:r>
          </a:p>
          <a:p>
            <a:r>
              <a:rPr lang="en-US" dirty="0"/>
              <a:t>Their primary function is to provide voltage regulation, protection, or voltage reference in electrical circuits.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32FA50-AD4A-15E2-9A19-6AB8B8C7F218}"/>
              </a:ext>
            </a:extLst>
          </p:cNvPr>
          <p:cNvGrpSpPr/>
          <p:nvPr/>
        </p:nvGrpSpPr>
        <p:grpSpPr>
          <a:xfrm>
            <a:off x="3775066" y="4752823"/>
            <a:ext cx="4641868" cy="1486659"/>
            <a:chOff x="3760787" y="3990980"/>
            <a:chExt cx="4996658" cy="176212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48893B6-D64C-91DC-2050-F922133BE17E}"/>
                </a:ext>
              </a:extLst>
            </p:cNvPr>
            <p:cNvGrpSpPr/>
            <p:nvPr/>
          </p:nvGrpSpPr>
          <p:grpSpPr>
            <a:xfrm>
              <a:off x="3905250" y="3990980"/>
              <a:ext cx="4703762" cy="1762121"/>
              <a:chOff x="3829050" y="4286251"/>
              <a:chExt cx="4703762" cy="176212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02434A8-9066-751C-2594-BBDA5AB28024}"/>
                  </a:ext>
                </a:extLst>
              </p:cNvPr>
              <p:cNvGrpSpPr/>
              <p:nvPr/>
            </p:nvGrpSpPr>
            <p:grpSpPr>
              <a:xfrm>
                <a:off x="3829050" y="4286251"/>
                <a:ext cx="2933700" cy="1762121"/>
                <a:chOff x="3829050" y="4286251"/>
                <a:chExt cx="2933700" cy="1762121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AA9A335C-61DE-C6A3-13DC-3F4DDC8FB281}"/>
                    </a:ext>
                  </a:extLst>
                </p:cNvPr>
                <p:cNvGrpSpPr/>
                <p:nvPr/>
              </p:nvGrpSpPr>
              <p:grpSpPr>
                <a:xfrm>
                  <a:off x="3829050" y="4610099"/>
                  <a:ext cx="2711450" cy="1114425"/>
                  <a:chOff x="3848100" y="4000499"/>
                  <a:chExt cx="2711450" cy="1114425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9F871E0C-789A-0E4B-716C-15E6934DDA7C}"/>
                      </a:ext>
                    </a:extLst>
                  </p:cNvPr>
                  <p:cNvSpPr/>
                  <p:nvPr/>
                </p:nvSpPr>
                <p:spPr>
                  <a:xfrm>
                    <a:off x="3848100" y="4524375"/>
                    <a:ext cx="2009775" cy="66675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Isosceles Triangle 14">
                    <a:extLst>
                      <a:ext uri="{FF2B5EF4-FFF2-40B4-BE49-F238E27FC236}">
                        <a16:creationId xmlns:a16="http://schemas.microsoft.com/office/drawing/2014/main" id="{8A15F5F5-E7B5-F319-8CEF-4AFF293B12C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629275" y="4184650"/>
                    <a:ext cx="1114425" cy="746124"/>
                  </a:xfrm>
                  <a:prstGeom prst="triangle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149373B-B832-1018-356F-E960B9F581BF}"/>
                    </a:ext>
                  </a:extLst>
                </p:cNvPr>
                <p:cNvSpPr/>
                <p:nvPr/>
              </p:nvSpPr>
              <p:spPr>
                <a:xfrm>
                  <a:off x="6530976" y="4610098"/>
                  <a:ext cx="107950" cy="1114427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Parallelogram 11">
                  <a:extLst>
                    <a:ext uri="{FF2B5EF4-FFF2-40B4-BE49-F238E27FC236}">
                      <a16:creationId xmlns:a16="http://schemas.microsoft.com/office/drawing/2014/main" id="{DCA1867E-2534-6643-E56C-453C84709544}"/>
                    </a:ext>
                  </a:extLst>
                </p:cNvPr>
                <p:cNvSpPr/>
                <p:nvPr/>
              </p:nvSpPr>
              <p:spPr>
                <a:xfrm>
                  <a:off x="6530975" y="4286251"/>
                  <a:ext cx="231775" cy="333372"/>
                </a:xfrm>
                <a:prstGeom prst="parallelogram">
                  <a:avLst>
                    <a:gd name="adj" fmla="val 55349"/>
                  </a:avLst>
                </a:prstGeom>
                <a:solidFill>
                  <a:schemeClr val="tx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Parallelogram 12">
                  <a:extLst>
                    <a:ext uri="{FF2B5EF4-FFF2-40B4-BE49-F238E27FC236}">
                      <a16:creationId xmlns:a16="http://schemas.microsoft.com/office/drawing/2014/main" id="{AB5AD81B-2062-6257-A622-EEBDC2BB60BC}"/>
                    </a:ext>
                  </a:extLst>
                </p:cNvPr>
                <p:cNvSpPr/>
                <p:nvPr/>
              </p:nvSpPr>
              <p:spPr>
                <a:xfrm>
                  <a:off x="6407150" y="5715000"/>
                  <a:ext cx="231775" cy="333372"/>
                </a:xfrm>
                <a:prstGeom prst="parallelogram">
                  <a:avLst>
                    <a:gd name="adj" fmla="val 55349"/>
                  </a:avLst>
                </a:prstGeom>
                <a:solidFill>
                  <a:schemeClr val="tx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E5DDD4B-F4F9-6631-DBD0-CB598061C129}"/>
                  </a:ext>
                </a:extLst>
              </p:cNvPr>
              <p:cNvSpPr/>
              <p:nvPr/>
            </p:nvSpPr>
            <p:spPr>
              <a:xfrm>
                <a:off x="6523037" y="5133975"/>
                <a:ext cx="2009775" cy="666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A99062-644D-5348-189E-A2B8DDA1E3ED}"/>
                </a:ext>
              </a:extLst>
            </p:cNvPr>
            <p:cNvSpPr/>
            <p:nvPr/>
          </p:nvSpPr>
          <p:spPr>
            <a:xfrm>
              <a:off x="3760787" y="4729163"/>
              <a:ext cx="280988" cy="285754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AC8054D-264C-F3D7-AD22-3818F5CFA88E}"/>
                </a:ext>
              </a:extLst>
            </p:cNvPr>
            <p:cNvSpPr/>
            <p:nvPr/>
          </p:nvSpPr>
          <p:spPr>
            <a:xfrm>
              <a:off x="8476457" y="4729163"/>
              <a:ext cx="280988" cy="285754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9360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D990C-96E8-DD69-7784-0A938FDDA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Comparison of Zener and Avalanche Diodes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F32A0F-1A1E-E149-2B40-BD85F2421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769413"/>
              </p:ext>
            </p:extLst>
          </p:nvPr>
        </p:nvGraphicFramePr>
        <p:xfrm>
          <a:off x="1125216" y="2538738"/>
          <a:ext cx="9938391" cy="3241264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061860">
                  <a:extLst>
                    <a:ext uri="{9D8B030D-6E8A-4147-A177-3AD203B41FA5}">
                      <a16:colId xmlns:a16="http://schemas.microsoft.com/office/drawing/2014/main" val="298643482"/>
                    </a:ext>
                  </a:extLst>
                </a:gridCol>
                <a:gridCol w="3179449">
                  <a:extLst>
                    <a:ext uri="{9D8B030D-6E8A-4147-A177-3AD203B41FA5}">
                      <a16:colId xmlns:a16="http://schemas.microsoft.com/office/drawing/2014/main" val="369515054"/>
                    </a:ext>
                  </a:extLst>
                </a:gridCol>
                <a:gridCol w="3697082">
                  <a:extLst>
                    <a:ext uri="{9D8B030D-6E8A-4147-A177-3AD203B41FA5}">
                      <a16:colId xmlns:a16="http://schemas.microsoft.com/office/drawing/2014/main" val="3884354248"/>
                    </a:ext>
                  </a:extLst>
                </a:gridCol>
              </a:tblGrid>
              <a:tr h="6713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Features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Zener Breakdown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Avalanche Breakdown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64015"/>
                  </a:ext>
                </a:extLst>
              </a:tr>
              <a:tr h="5139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Voltage Range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𝑉</a:t>
                      </a:r>
                      <a:r>
                        <a:rPr lang="en-US" baseline="-25000" dirty="0"/>
                        <a:t>𝑍 </a:t>
                      </a:r>
                      <a:r>
                        <a:rPr lang="en-US" dirty="0"/>
                        <a:t>&lt; 5V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Z</a:t>
                      </a:r>
                      <a:r>
                        <a:rPr lang="en-US" dirty="0"/>
                        <a:t>​ &gt; 5V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31310"/>
                  </a:ext>
                </a:extLst>
              </a:tr>
              <a:tr h="5139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Breakdown mechanism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Quantum Tunneling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Ionization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72391"/>
                  </a:ext>
                </a:extLst>
              </a:tr>
              <a:tr h="5139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Temperature Coefficient (𝛼</a:t>
                      </a:r>
                      <a:r>
                        <a:rPr lang="el-GR" dirty="0"/>
                        <a:t>)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 (𝛼 &lt; 0</a:t>
                      </a:r>
                      <a:r>
                        <a:rPr lang="el-GR" dirty="0"/>
                        <a:t>)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(𝛼 &gt; 0</a:t>
                      </a:r>
                      <a:r>
                        <a:rPr lang="el-GR" dirty="0"/>
                        <a:t>)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147765"/>
                  </a:ext>
                </a:extLst>
              </a:tr>
              <a:tr h="5139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Depletion Region Width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Narrow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Wider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041133"/>
                  </a:ext>
                </a:extLst>
              </a:tr>
              <a:tr h="5139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Applications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 Voltage Regulation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Higher Voltage Applications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318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074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ECAA-209E-6E6B-C731-FE87805CA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194" y="2215881"/>
            <a:ext cx="10455612" cy="2426239"/>
          </a:xfrm>
        </p:spPr>
        <p:txBody>
          <a:bodyPr>
            <a:normAutofit/>
          </a:bodyPr>
          <a:lstStyle/>
          <a:p>
            <a:r>
              <a:rPr lang="en-US" sz="4800" dirty="0"/>
              <a:t>Experiment 1: Determining the Breakdown Voltage (𝑉</a:t>
            </a:r>
            <a:r>
              <a:rPr lang="en-US" sz="4800" baseline="-25000" dirty="0"/>
              <a:t>𝑍</a:t>
            </a:r>
            <a:r>
              <a:rPr lang="en-US" sz="4800" dirty="0"/>
              <a:t>) of a Zener Diode</a:t>
            </a:r>
          </a:p>
        </p:txBody>
      </p:sp>
    </p:spTree>
    <p:extLst>
      <p:ext uri="{BB962C8B-B14F-4D97-AF65-F5344CB8AC3E}">
        <p14:creationId xmlns:p14="http://schemas.microsoft.com/office/powerpoint/2010/main" val="32974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6C8B-F0A0-FB6F-E6F8-CD594FA0B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53082"/>
          </a:xfrm>
        </p:spPr>
        <p:txBody>
          <a:bodyPr>
            <a:normAutofit/>
          </a:bodyPr>
          <a:lstStyle/>
          <a:p>
            <a:r>
              <a:rPr lang="en-US" sz="4800" dirty="0"/>
              <a:t>Setup and method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A380532-7A61-0640-EDB0-2C6916EC6B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2" t="11231" r="9033" b="9255"/>
          <a:stretch/>
        </p:blipFill>
        <p:spPr>
          <a:xfrm>
            <a:off x="1081673" y="2380740"/>
            <a:ext cx="3103125" cy="2661158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E10E4A7-9505-A6BC-E01B-9499AE16B0A3}"/>
              </a:ext>
            </a:extLst>
          </p:cNvPr>
          <p:cNvSpPr txBox="1"/>
          <p:nvPr/>
        </p:nvSpPr>
        <p:spPr>
          <a:xfrm>
            <a:off x="4722553" y="1720840"/>
            <a:ext cx="69125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A 270</a:t>
            </a:r>
            <a:r>
              <a:rPr lang="el-GR" sz="2400" dirty="0"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 resistor was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nput voltage, V</a:t>
            </a:r>
            <a:r>
              <a:rPr lang="en-US" sz="2400" baseline="-25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was Gradually increase the from 0 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each step, the following were record: </a:t>
            </a:r>
          </a:p>
          <a:p>
            <a:pPr marL="715963" indent="-358775">
              <a:buFont typeface="Arial" panose="020B0604020202020204" pitchFamily="34" charset="0"/>
              <a:buChar char="•"/>
            </a:pPr>
            <a:r>
              <a:rPr lang="en-US" sz="2400" dirty="0"/>
              <a:t>Voltage across the Zener diode, V</a:t>
            </a:r>
            <a:r>
              <a:rPr lang="en-US" sz="2400" baseline="-25000" dirty="0"/>
              <a:t>Z</a:t>
            </a:r>
            <a:r>
              <a:rPr lang="en-US" sz="2400" dirty="0"/>
              <a:t> and V</a:t>
            </a:r>
            <a:r>
              <a:rPr lang="en-US" sz="2400" baseline="-25000" dirty="0"/>
              <a:t>I</a:t>
            </a:r>
            <a:endParaRPr lang="en-US" sz="2400" dirty="0"/>
          </a:p>
          <a:p>
            <a:pPr marL="715963" indent="-358775">
              <a:buFont typeface="Arial" panose="020B0604020202020204" pitchFamily="34" charset="0"/>
              <a:buChar char="•"/>
            </a:pPr>
            <a:r>
              <a:rPr lang="en-US" sz="2400" dirty="0"/>
              <a:t>Current through the Zener diode, I</a:t>
            </a:r>
            <a:r>
              <a:rPr lang="en-US" sz="2400" baseline="-25000" dirty="0"/>
              <a:t>Z</a:t>
            </a:r>
            <a:endParaRPr lang="en-US" sz="2400" dirty="0"/>
          </a:p>
          <a:p>
            <a:pPr marL="357188" indent="-357188">
              <a:buFont typeface="Arial" panose="020B0604020202020204" pitchFamily="34" charset="0"/>
              <a:buChar char="•"/>
            </a:pPr>
            <a:r>
              <a:rPr lang="en-US" sz="2400" dirty="0"/>
              <a:t>The point where the voltage stabilizes was identified</a:t>
            </a:r>
          </a:p>
          <a:p>
            <a:pPr marL="357188" indent="-357188">
              <a:buFont typeface="Arial" panose="020B0604020202020204" pitchFamily="34" charset="0"/>
              <a:buChar char="•"/>
            </a:pPr>
            <a:r>
              <a:rPr lang="en-US" sz="2400" dirty="0"/>
              <a:t>This was done for both Zener diode and Avalanche diode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DA9E74-EA75-F8B1-2D04-CCDA2AE0B515}"/>
              </a:ext>
            </a:extLst>
          </p:cNvPr>
          <p:cNvGrpSpPr/>
          <p:nvPr/>
        </p:nvGrpSpPr>
        <p:grpSpPr>
          <a:xfrm>
            <a:off x="2021944" y="4203501"/>
            <a:ext cx="1027755" cy="373477"/>
            <a:chOff x="3760781" y="3990988"/>
            <a:chExt cx="4452999" cy="1762124"/>
          </a:xfrm>
          <a:solidFill>
            <a:schemeClr val="bg1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7B4D4B6-26DF-BB87-E1EB-4074A149D848}"/>
                </a:ext>
              </a:extLst>
            </p:cNvPr>
            <p:cNvGrpSpPr/>
            <p:nvPr/>
          </p:nvGrpSpPr>
          <p:grpSpPr>
            <a:xfrm>
              <a:off x="3905244" y="3990988"/>
              <a:ext cx="4097793" cy="1762124"/>
              <a:chOff x="3829050" y="4286251"/>
              <a:chExt cx="4097801" cy="1762121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5B0C349-F089-07EE-6B61-5C6CEFC5D096}"/>
                  </a:ext>
                </a:extLst>
              </p:cNvPr>
              <p:cNvGrpSpPr/>
              <p:nvPr/>
            </p:nvGrpSpPr>
            <p:grpSpPr>
              <a:xfrm>
                <a:off x="3829050" y="4286251"/>
                <a:ext cx="2933700" cy="1762121"/>
                <a:chOff x="3829050" y="4286251"/>
                <a:chExt cx="2933700" cy="1762121"/>
              </a:xfrm>
              <a:grp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B9D7B470-833C-7CEF-9725-4ADAA73B6B43}"/>
                    </a:ext>
                  </a:extLst>
                </p:cNvPr>
                <p:cNvGrpSpPr/>
                <p:nvPr/>
              </p:nvGrpSpPr>
              <p:grpSpPr>
                <a:xfrm>
                  <a:off x="3829050" y="4610099"/>
                  <a:ext cx="2711450" cy="1114425"/>
                  <a:chOff x="3848100" y="4000499"/>
                  <a:chExt cx="2711450" cy="1114425"/>
                </a:xfrm>
                <a:grpFill/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D70E3F92-5627-90A9-E7C8-67E3971CA862}"/>
                      </a:ext>
                    </a:extLst>
                  </p:cNvPr>
                  <p:cNvSpPr/>
                  <p:nvPr/>
                </p:nvSpPr>
                <p:spPr>
                  <a:xfrm>
                    <a:off x="3848100" y="4524375"/>
                    <a:ext cx="2009775" cy="6667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73727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Isosceles Triangle 29">
                    <a:extLst>
                      <a:ext uri="{FF2B5EF4-FFF2-40B4-BE49-F238E27FC236}">
                        <a16:creationId xmlns:a16="http://schemas.microsoft.com/office/drawing/2014/main" id="{424A1EC4-ACC3-3F85-BCCD-7F8E7BBF18A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629275" y="4184650"/>
                    <a:ext cx="1114425" cy="746124"/>
                  </a:xfrm>
                  <a:prstGeom prst="triangle">
                    <a:avLst/>
                  </a:prstGeom>
                  <a:grpFill/>
                  <a:ln>
                    <a:solidFill>
                      <a:srgbClr val="73727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B6D15B0D-FEDA-8DA1-5C00-C305FE8FE370}"/>
                    </a:ext>
                  </a:extLst>
                </p:cNvPr>
                <p:cNvSpPr/>
                <p:nvPr/>
              </p:nvSpPr>
              <p:spPr>
                <a:xfrm>
                  <a:off x="6530976" y="4610098"/>
                  <a:ext cx="107950" cy="1114427"/>
                </a:xfrm>
                <a:prstGeom prst="rect">
                  <a:avLst/>
                </a:prstGeom>
                <a:grpFill/>
                <a:ln>
                  <a:solidFill>
                    <a:srgbClr val="73727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Parallelogram 26">
                  <a:extLst>
                    <a:ext uri="{FF2B5EF4-FFF2-40B4-BE49-F238E27FC236}">
                      <a16:creationId xmlns:a16="http://schemas.microsoft.com/office/drawing/2014/main" id="{566A0470-FB6B-B616-F7BE-33153FF16432}"/>
                    </a:ext>
                  </a:extLst>
                </p:cNvPr>
                <p:cNvSpPr/>
                <p:nvPr/>
              </p:nvSpPr>
              <p:spPr>
                <a:xfrm>
                  <a:off x="6530975" y="4286251"/>
                  <a:ext cx="231775" cy="333372"/>
                </a:xfrm>
                <a:prstGeom prst="parallelogram">
                  <a:avLst>
                    <a:gd name="adj" fmla="val 55349"/>
                  </a:avLst>
                </a:prstGeom>
                <a:grpFill/>
                <a:ln>
                  <a:solidFill>
                    <a:srgbClr val="73727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Parallelogram 27">
                  <a:extLst>
                    <a:ext uri="{FF2B5EF4-FFF2-40B4-BE49-F238E27FC236}">
                      <a16:creationId xmlns:a16="http://schemas.microsoft.com/office/drawing/2014/main" id="{473FF652-8CCE-606A-71A9-55D0EB74B9AD}"/>
                    </a:ext>
                  </a:extLst>
                </p:cNvPr>
                <p:cNvSpPr/>
                <p:nvPr/>
              </p:nvSpPr>
              <p:spPr>
                <a:xfrm>
                  <a:off x="6407150" y="5715000"/>
                  <a:ext cx="231775" cy="333372"/>
                </a:xfrm>
                <a:prstGeom prst="parallelogram">
                  <a:avLst>
                    <a:gd name="adj" fmla="val 55349"/>
                  </a:avLst>
                </a:prstGeom>
                <a:grpFill/>
                <a:ln>
                  <a:solidFill>
                    <a:srgbClr val="73727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1D4CC46-1ACE-A48F-EC6C-5E6957193D90}"/>
                  </a:ext>
                </a:extLst>
              </p:cNvPr>
              <p:cNvSpPr/>
              <p:nvPr/>
            </p:nvSpPr>
            <p:spPr>
              <a:xfrm>
                <a:off x="6523039" y="5133975"/>
                <a:ext cx="1403812" cy="66677"/>
              </a:xfrm>
              <a:prstGeom prst="rect">
                <a:avLst/>
              </a:prstGeom>
              <a:grpFill/>
              <a:ln>
                <a:solidFill>
                  <a:srgbClr val="73727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39ADE84-6A64-990A-3FB5-BC8937A7CDA3}"/>
                </a:ext>
              </a:extLst>
            </p:cNvPr>
            <p:cNvSpPr/>
            <p:nvPr/>
          </p:nvSpPr>
          <p:spPr>
            <a:xfrm>
              <a:off x="3760781" y="4729168"/>
              <a:ext cx="280989" cy="285755"/>
            </a:xfrm>
            <a:prstGeom prst="ellipse">
              <a:avLst/>
            </a:prstGeom>
            <a:grpFill/>
            <a:ln>
              <a:solidFill>
                <a:srgbClr val="73727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EDFEA61-5E81-2422-87CA-D95B0B9FEF14}"/>
                </a:ext>
              </a:extLst>
            </p:cNvPr>
            <p:cNvSpPr/>
            <p:nvPr/>
          </p:nvSpPr>
          <p:spPr>
            <a:xfrm>
              <a:off x="7932793" y="4753858"/>
              <a:ext cx="280987" cy="285755"/>
            </a:xfrm>
            <a:prstGeom prst="ellipse">
              <a:avLst/>
            </a:prstGeom>
            <a:grpFill/>
            <a:ln>
              <a:solidFill>
                <a:srgbClr val="73727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4835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5B35-47C3-8753-D102-99F3FA0B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75718"/>
            <a:ext cx="9905998" cy="786076"/>
          </a:xfrm>
        </p:spPr>
        <p:txBody>
          <a:bodyPr>
            <a:normAutofit/>
          </a:bodyPr>
          <a:lstStyle/>
          <a:p>
            <a:r>
              <a:rPr lang="en-US" sz="4800" dirty="0"/>
              <a:t>Result and Analysis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E28016-0386-B1A7-B77C-F844BC3E7D2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143001" y="2347197"/>
                <a:ext cx="9905998" cy="2761517"/>
              </a:xfrm>
            </p:spPr>
            <p:txBody>
              <a:bodyPr>
                <a:noAutofit/>
              </a:bodyPr>
              <a:lstStyle/>
              <a:p>
                <a:r>
                  <a:rPr lang="en-US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everse I-V characteristics of the Zener diode was plotted </a:t>
                </a:r>
              </a:p>
              <a:p>
                <a:r>
                  <a:rPr lang="en-US" dirty="0"/>
                  <a:t>The point where the current starts to increase rapidly and the voltage stabilizes, was located. This voltage is the breakdown voltage (</a:t>
                </a:r>
                <a:r>
                  <a:rPr lang="en-US" i="1" dirty="0">
                    <a:ea typeface="Cambria Math" panose="02040503050406030204" pitchFamily="18" charset="0"/>
                  </a:rPr>
                  <a:t>V</a:t>
                </a:r>
                <a:r>
                  <a:rPr lang="en-US" i="1" baseline="-25000" dirty="0">
                    <a:ea typeface="Cambria Math" panose="02040503050406030204" pitchFamily="18" charset="0"/>
                  </a:rPr>
                  <a:t>Z</a:t>
                </a:r>
                <a:r>
                  <a:rPr lang="en-US" dirty="0"/>
                  <a:t>).</a:t>
                </a:r>
              </a:p>
              <a:p>
                <a:r>
                  <a:rPr lang="en-US" dirty="0"/>
                  <a:t>A linear regression and a verification was performed using the eq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/>
                        </m:ctrlPr>
                      </m:sSubPr>
                      <m:e>
                        <m:r>
                          <a:rPr lang="en-US" b="0" i="1" smtClean="0"/>
                          <m:t>𝑉</m:t>
                        </m:r>
                      </m:e>
                      <m:sub>
                        <m:r>
                          <a:rPr lang="en-US" b="0" i="1" smtClean="0"/>
                          <m:t>𝐼</m:t>
                        </m:r>
                      </m:sub>
                    </m:sSub>
                    <m:r>
                      <a:rPr lang="en-US" b="0" i="1" smtClean="0"/>
                      <m:t>=</m:t>
                    </m:r>
                    <m:sSub>
                      <m:sSubPr>
                        <m:ctrlPr>
                          <a:rPr lang="en-US" b="0" i="1" smtClean="0"/>
                        </m:ctrlPr>
                      </m:sSubPr>
                      <m:e>
                        <m:r>
                          <a:rPr lang="en-US" b="0" i="1" smtClean="0"/>
                          <m:t>𝐼</m:t>
                        </m:r>
                      </m:e>
                      <m:sub>
                        <m:r>
                          <a:rPr lang="en-US" b="0" i="1" smtClean="0"/>
                          <m:t>𝑍</m:t>
                        </m:r>
                      </m:sub>
                    </m:sSub>
                    <m:r>
                      <a:rPr lang="en-US" b="0" i="1" smtClean="0"/>
                      <m:t>𝑅</m:t>
                    </m:r>
                    <m:r>
                      <a:rPr lang="en-US" b="0" i="1" smtClean="0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𝑉</m:t>
                        </m:r>
                      </m:e>
                      <m:sub>
                        <m:r>
                          <a:rPr lang="en-US" b="0" i="1" smtClean="0"/>
                          <m:t>𝑍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E28016-0386-B1A7-B77C-F844BC3E7D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43001" y="2347197"/>
                <a:ext cx="9905998" cy="2761517"/>
              </a:xfrm>
              <a:blipFill>
                <a:blip r:embed="rId2"/>
                <a:stretch>
                  <a:fillRect l="-1293" t="-2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368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439BDB-3770-CBB5-2A85-88ADAFD13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04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502CE79-8AC8-E0A9-55E8-7DB96AA93F3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AFF2C25-AAB9-6DE0-4BC0-5A6D7DFA4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C1C6DE3-4BFB-A015-8262-1E9C199FD4DE}"/>
                </a:ext>
              </a:extLst>
            </p:cNvPr>
            <p:cNvSpPr txBox="1"/>
            <p:nvPr/>
          </p:nvSpPr>
          <p:spPr>
            <a:xfrm>
              <a:off x="2464904" y="467138"/>
              <a:ext cx="7056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9.1V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7194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C420-A496-10E3-BF4F-A30BAD905F8A}"/>
              </a:ext>
            </a:extLst>
          </p:cNvPr>
          <p:cNvSpPr txBox="1">
            <a:spLocks/>
          </p:cNvSpPr>
          <p:nvPr/>
        </p:nvSpPr>
        <p:spPr>
          <a:xfrm>
            <a:off x="516923" y="3001345"/>
            <a:ext cx="11158154" cy="8553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Experiment 2: Voltage Regulation Test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033987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6EC3B6-2194-BD9B-F327-CA6EAB240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220D-762B-E686-E8F6-5D196238A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53082"/>
          </a:xfrm>
        </p:spPr>
        <p:txBody>
          <a:bodyPr>
            <a:normAutofit/>
          </a:bodyPr>
          <a:lstStyle/>
          <a:p>
            <a:r>
              <a:rPr lang="en-US" sz="4800" dirty="0"/>
              <a:t>Setup and method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D0DC06-7D8F-D778-8DB0-17BA23290423}"/>
              </a:ext>
            </a:extLst>
          </p:cNvPr>
          <p:cNvSpPr txBox="1"/>
          <p:nvPr/>
        </p:nvSpPr>
        <p:spPr>
          <a:xfrm>
            <a:off x="5200909" y="1720840"/>
            <a:ext cx="61197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A 270</a:t>
            </a:r>
            <a:r>
              <a:rPr lang="el-GR" sz="2400" dirty="0"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 series resistor and a variable load resistor was used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nput voltage, V</a:t>
            </a:r>
            <a:r>
              <a:rPr lang="en-US" sz="2400" baseline="-25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was Gradually increase the from 0 V in small steps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each step, the following were record: </a:t>
            </a:r>
          </a:p>
          <a:p>
            <a:pPr marL="715963" indent="-358775">
              <a:buFont typeface="Arial" panose="020B0604020202020204" pitchFamily="34" charset="0"/>
              <a:buChar char="•"/>
            </a:pPr>
            <a:r>
              <a:rPr lang="en-US" sz="2400" dirty="0"/>
              <a:t>Voltage across the load resistor, V</a:t>
            </a:r>
            <a:r>
              <a:rPr lang="en-US" sz="2400" baseline="-25000" dirty="0"/>
              <a:t>Z</a:t>
            </a:r>
            <a:r>
              <a:rPr lang="en-US" sz="2400" dirty="0"/>
              <a:t> and V</a:t>
            </a:r>
            <a:r>
              <a:rPr lang="en-US" sz="2400" baseline="-25000" dirty="0"/>
              <a:t>I</a:t>
            </a:r>
            <a:r>
              <a:rPr lang="en-US" sz="2400" dirty="0"/>
              <a:t>.</a:t>
            </a:r>
          </a:p>
          <a:p>
            <a:pPr marL="715963" indent="-358775">
              <a:buFont typeface="Arial" panose="020B0604020202020204" pitchFamily="34" charset="0"/>
              <a:buChar char="•"/>
            </a:pPr>
            <a:r>
              <a:rPr lang="en-US" sz="2400" dirty="0"/>
              <a:t>Current through the Zener diode, I</a:t>
            </a:r>
            <a:r>
              <a:rPr lang="en-US" sz="2400" baseline="-25000" dirty="0"/>
              <a:t>Z</a:t>
            </a:r>
            <a:endParaRPr lang="en-US" sz="2400" dirty="0"/>
          </a:p>
          <a:p>
            <a:pPr marL="357188" indent="-357188">
              <a:buFont typeface="Arial" panose="020B0604020202020204" pitchFamily="34" charset="0"/>
              <a:buChar char="•"/>
            </a:pPr>
            <a:r>
              <a:rPr lang="en-US" sz="2400" dirty="0"/>
              <a:t>This was done for a range of load resistances but was only done for the avalanche diode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F22513-337B-6AFE-2CD7-0F210E0E869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43" y="2059797"/>
            <a:ext cx="4235725" cy="32944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4FD7C42-0B12-F960-51E1-29BF6B3B3249}"/>
              </a:ext>
            </a:extLst>
          </p:cNvPr>
          <p:cNvGrpSpPr/>
          <p:nvPr/>
        </p:nvGrpSpPr>
        <p:grpSpPr>
          <a:xfrm>
            <a:off x="2399631" y="4223379"/>
            <a:ext cx="1027755" cy="373477"/>
            <a:chOff x="3760781" y="3990988"/>
            <a:chExt cx="4452999" cy="1762124"/>
          </a:xfrm>
          <a:solidFill>
            <a:schemeClr val="tx1"/>
          </a:solidFill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BDB0736-38A3-350A-EB93-FA57DB748BD0}"/>
                </a:ext>
              </a:extLst>
            </p:cNvPr>
            <p:cNvGrpSpPr/>
            <p:nvPr/>
          </p:nvGrpSpPr>
          <p:grpSpPr>
            <a:xfrm>
              <a:off x="3905244" y="3990988"/>
              <a:ext cx="4097793" cy="1762124"/>
              <a:chOff x="3829050" y="4286251"/>
              <a:chExt cx="4097801" cy="1762121"/>
            </a:xfrm>
            <a:grpFill/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DA98014-57E2-53DB-56E1-607A96E3375D}"/>
                  </a:ext>
                </a:extLst>
              </p:cNvPr>
              <p:cNvGrpSpPr/>
              <p:nvPr/>
            </p:nvGrpSpPr>
            <p:grpSpPr>
              <a:xfrm>
                <a:off x="3829050" y="4286251"/>
                <a:ext cx="2933700" cy="1762121"/>
                <a:chOff x="3829050" y="4286251"/>
                <a:chExt cx="2933700" cy="1762121"/>
              </a:xfrm>
              <a:grpFill/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5304A85-5C4B-755B-26B8-245D66897A16}"/>
                    </a:ext>
                  </a:extLst>
                </p:cNvPr>
                <p:cNvGrpSpPr/>
                <p:nvPr/>
              </p:nvGrpSpPr>
              <p:grpSpPr>
                <a:xfrm>
                  <a:off x="3829050" y="4610099"/>
                  <a:ext cx="2711450" cy="1114425"/>
                  <a:chOff x="3848100" y="4000499"/>
                  <a:chExt cx="2711450" cy="1114425"/>
                </a:xfrm>
                <a:grpFill/>
              </p:grpSpPr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04193AF6-997C-9301-CB80-3942A8EB2E45}"/>
                      </a:ext>
                    </a:extLst>
                  </p:cNvPr>
                  <p:cNvSpPr/>
                  <p:nvPr/>
                </p:nvSpPr>
                <p:spPr>
                  <a:xfrm>
                    <a:off x="3848100" y="4524375"/>
                    <a:ext cx="2009775" cy="66675"/>
                  </a:xfrm>
                  <a:prstGeom prst="rect">
                    <a:avLst/>
                  </a:prstGeom>
                  <a:grpFill/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Isosceles Triangle 32">
                    <a:extLst>
                      <a:ext uri="{FF2B5EF4-FFF2-40B4-BE49-F238E27FC236}">
                        <a16:creationId xmlns:a16="http://schemas.microsoft.com/office/drawing/2014/main" id="{5CE66E77-3A98-B561-8E9F-94A92029DA5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629275" y="4184650"/>
                    <a:ext cx="1114425" cy="746124"/>
                  </a:xfrm>
                  <a:prstGeom prst="triangle">
                    <a:avLst/>
                  </a:prstGeom>
                  <a:grpFill/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0A818EBA-E4A5-5A8A-6956-3B2344474B43}"/>
                    </a:ext>
                  </a:extLst>
                </p:cNvPr>
                <p:cNvSpPr/>
                <p:nvPr/>
              </p:nvSpPr>
              <p:spPr>
                <a:xfrm>
                  <a:off x="6530976" y="4610098"/>
                  <a:ext cx="107950" cy="1114427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Parallelogram 15">
                  <a:extLst>
                    <a:ext uri="{FF2B5EF4-FFF2-40B4-BE49-F238E27FC236}">
                      <a16:creationId xmlns:a16="http://schemas.microsoft.com/office/drawing/2014/main" id="{250961BF-1A1E-0942-C4E2-C99D42D38C6F}"/>
                    </a:ext>
                  </a:extLst>
                </p:cNvPr>
                <p:cNvSpPr/>
                <p:nvPr/>
              </p:nvSpPr>
              <p:spPr>
                <a:xfrm>
                  <a:off x="6530975" y="4286251"/>
                  <a:ext cx="231775" cy="333372"/>
                </a:xfrm>
                <a:prstGeom prst="parallelogram">
                  <a:avLst>
                    <a:gd name="adj" fmla="val 55349"/>
                  </a:avLst>
                </a:prstGeom>
                <a:grpFill/>
                <a:ln>
                  <a:solidFill>
                    <a:schemeClr val="tx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Parallelogram 30">
                  <a:extLst>
                    <a:ext uri="{FF2B5EF4-FFF2-40B4-BE49-F238E27FC236}">
                      <a16:creationId xmlns:a16="http://schemas.microsoft.com/office/drawing/2014/main" id="{FDDC68F9-85F0-EE51-C47A-E3F51B34F689}"/>
                    </a:ext>
                  </a:extLst>
                </p:cNvPr>
                <p:cNvSpPr/>
                <p:nvPr/>
              </p:nvSpPr>
              <p:spPr>
                <a:xfrm>
                  <a:off x="6407150" y="5715000"/>
                  <a:ext cx="231775" cy="333372"/>
                </a:xfrm>
                <a:prstGeom prst="parallelogram">
                  <a:avLst>
                    <a:gd name="adj" fmla="val 55349"/>
                  </a:avLst>
                </a:prstGeom>
                <a:grpFill/>
                <a:ln>
                  <a:solidFill>
                    <a:schemeClr val="tx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C208411-1531-AF09-69FA-0380891B551A}"/>
                  </a:ext>
                </a:extLst>
              </p:cNvPr>
              <p:cNvSpPr/>
              <p:nvPr/>
            </p:nvSpPr>
            <p:spPr>
              <a:xfrm>
                <a:off x="6523039" y="5133975"/>
                <a:ext cx="1403812" cy="66677"/>
              </a:xfrm>
              <a:prstGeom prst="rect">
                <a:avLst/>
              </a:prstGeom>
              <a:grpFill/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DA6C8AC-3474-D7E4-CB6F-A09FED31192B}"/>
                </a:ext>
              </a:extLst>
            </p:cNvPr>
            <p:cNvSpPr/>
            <p:nvPr/>
          </p:nvSpPr>
          <p:spPr>
            <a:xfrm>
              <a:off x="3760781" y="4729168"/>
              <a:ext cx="280989" cy="285755"/>
            </a:xfrm>
            <a:prstGeom prst="ellipse">
              <a:avLst/>
            </a:prstGeom>
            <a:grpFill/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7871D1F-8B9D-7802-0C85-B6F824AD98B1}"/>
                </a:ext>
              </a:extLst>
            </p:cNvPr>
            <p:cNvSpPr/>
            <p:nvPr/>
          </p:nvSpPr>
          <p:spPr>
            <a:xfrm>
              <a:off x="7932793" y="4753858"/>
              <a:ext cx="280987" cy="285755"/>
            </a:xfrm>
            <a:prstGeom prst="ellipse">
              <a:avLst/>
            </a:prstGeom>
            <a:grpFill/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592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EBCE-7E9B-F65D-1C46-068018713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085657"/>
            <a:ext cx="9905998" cy="763021"/>
          </a:xfrm>
        </p:spPr>
        <p:txBody>
          <a:bodyPr>
            <a:normAutofit/>
          </a:bodyPr>
          <a:lstStyle/>
          <a:p>
            <a:r>
              <a:rPr lang="en-US" sz="4800" dirty="0"/>
              <a:t>Result and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6728-5C9E-D545-3392-8376C1FA4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2387013"/>
            <a:ext cx="9905999" cy="2083974"/>
          </a:xfrm>
        </p:spPr>
        <p:txBody>
          <a:bodyPr/>
          <a:lstStyle/>
          <a:p>
            <a:r>
              <a:rPr lang="en-US" dirty="0"/>
              <a:t>Similar V-I characteristics graph, to the previous experiment, were obtained </a:t>
            </a:r>
          </a:p>
          <a:p>
            <a:r>
              <a:rPr lang="en-US" dirty="0"/>
              <a:t>The voltage across the load resistor or the Zener diode remains near constant at the breakdown voltage </a:t>
            </a:r>
          </a:p>
          <a:p>
            <a:r>
              <a:rPr lang="en-US" dirty="0"/>
              <a:t>This was verified using different values of resistances </a:t>
            </a:r>
          </a:p>
        </p:txBody>
      </p:sp>
    </p:spTree>
    <p:extLst>
      <p:ext uri="{BB962C8B-B14F-4D97-AF65-F5344CB8AC3E}">
        <p14:creationId xmlns:p14="http://schemas.microsoft.com/office/powerpoint/2010/main" val="3725039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43ED97-6752-6C37-E2B9-0C6FBD034782}"/>
              </a:ext>
            </a:extLst>
          </p:cNvPr>
          <p:cNvSpPr txBox="1"/>
          <p:nvPr/>
        </p:nvSpPr>
        <p:spPr>
          <a:xfrm>
            <a:off x="795132" y="1339159"/>
            <a:ext cx="118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500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CE473D-E3C4-DC1E-29E0-AC15305B9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133950"/>
              </p:ext>
            </p:extLst>
          </p:nvPr>
        </p:nvGraphicFramePr>
        <p:xfrm>
          <a:off x="874645" y="1708491"/>
          <a:ext cx="1848678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24339">
                  <a:extLst>
                    <a:ext uri="{9D8B030D-6E8A-4147-A177-3AD203B41FA5}">
                      <a16:colId xmlns:a16="http://schemas.microsoft.com/office/drawing/2014/main" val="3073203171"/>
                    </a:ext>
                  </a:extLst>
                </a:gridCol>
                <a:gridCol w="924339">
                  <a:extLst>
                    <a:ext uri="{9D8B030D-6E8A-4147-A177-3AD203B41FA5}">
                      <a16:colId xmlns:a16="http://schemas.microsoft.com/office/drawing/2014/main" val="760921038"/>
                    </a:ext>
                  </a:extLst>
                </a:gridCol>
              </a:tblGrid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Vi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Vz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964980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0.346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41439884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0.637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13925963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96758102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0.742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8796987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0.757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0361748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67640743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32953976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8240856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0.795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6471207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2374238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89440725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71296374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14466133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3142282"/>
                  </a:ext>
                </a:extLst>
              </a:tr>
              <a:tr h="236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0.829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32734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F826713-F9A6-20D9-967A-27D0B2BCE823}"/>
              </a:ext>
            </a:extLst>
          </p:cNvPr>
          <p:cNvSpPr txBox="1"/>
          <p:nvPr/>
        </p:nvSpPr>
        <p:spPr>
          <a:xfrm>
            <a:off x="2965177" y="1339159"/>
            <a:ext cx="118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600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EF2D5A-2D8D-B34D-6B65-638B7D309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084182"/>
              </p:ext>
            </p:extLst>
          </p:nvPr>
        </p:nvGraphicFramePr>
        <p:xfrm>
          <a:off x="3064569" y="1708491"/>
          <a:ext cx="1848678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34278">
                  <a:extLst>
                    <a:ext uri="{9D8B030D-6E8A-4147-A177-3AD203B41FA5}">
                      <a16:colId xmlns:a16="http://schemas.microsoft.com/office/drawing/2014/main" val="9018480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3186007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Vi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Vz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6048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0.398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0787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0.672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07740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4920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0.745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582220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0.759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27132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34990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0.779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74057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0.787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956592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67407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016374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059502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024990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006597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78968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0.824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194584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707956E-B79B-AD70-0F5E-81EAB025DD5A}"/>
              </a:ext>
            </a:extLst>
          </p:cNvPr>
          <p:cNvSpPr txBox="1"/>
          <p:nvPr/>
        </p:nvSpPr>
        <p:spPr>
          <a:xfrm>
            <a:off x="5105395" y="1339159"/>
            <a:ext cx="118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700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58A44-5FC1-CBEA-C654-A4B51B089ABC}"/>
              </a:ext>
            </a:extLst>
          </p:cNvPr>
          <p:cNvSpPr txBox="1"/>
          <p:nvPr/>
        </p:nvSpPr>
        <p:spPr>
          <a:xfrm>
            <a:off x="7238984" y="1339159"/>
            <a:ext cx="118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800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BDD0A6A-F2AF-5016-12A3-CCC3F7D34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7029"/>
              </p:ext>
            </p:extLst>
          </p:nvPr>
        </p:nvGraphicFramePr>
        <p:xfrm>
          <a:off x="5224666" y="1708491"/>
          <a:ext cx="1848678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24339">
                  <a:extLst>
                    <a:ext uri="{9D8B030D-6E8A-4147-A177-3AD203B41FA5}">
                      <a16:colId xmlns:a16="http://schemas.microsoft.com/office/drawing/2014/main" val="1584941083"/>
                    </a:ext>
                  </a:extLst>
                </a:gridCol>
                <a:gridCol w="924339">
                  <a:extLst>
                    <a:ext uri="{9D8B030D-6E8A-4147-A177-3AD203B41FA5}">
                      <a16:colId xmlns:a16="http://schemas.microsoft.com/office/drawing/2014/main" val="38276554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Vi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Vz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9162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0.42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13782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0.683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928850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44873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45540903"/>
                  </a:ext>
                </a:extLst>
              </a:tr>
              <a:tr h="2356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537507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07315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373233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225885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685171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066206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67304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81494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0.832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418197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955991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0.845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387873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3CE476C-F847-0B36-E6B2-CD14D819F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127233"/>
              </p:ext>
            </p:extLst>
          </p:nvPr>
        </p:nvGraphicFramePr>
        <p:xfrm>
          <a:off x="7378134" y="1708491"/>
          <a:ext cx="1848678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34278">
                  <a:extLst>
                    <a:ext uri="{9D8B030D-6E8A-4147-A177-3AD203B41FA5}">
                      <a16:colId xmlns:a16="http://schemas.microsoft.com/office/drawing/2014/main" val="310064645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3543779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Vi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Vz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162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0.481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455477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0.692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694750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0.732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629810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0.754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644843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012775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263858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760762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710960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988909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13433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7106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99747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82889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609769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0.823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4413458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02103AD-974D-495F-49F9-067E8EEBEA72}"/>
              </a:ext>
            </a:extLst>
          </p:cNvPr>
          <p:cNvSpPr txBox="1"/>
          <p:nvPr/>
        </p:nvSpPr>
        <p:spPr>
          <a:xfrm>
            <a:off x="9372573" y="1339159"/>
            <a:ext cx="118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900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2AF3C0D-8AC1-B64F-0C4D-5EC8F0531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791739"/>
              </p:ext>
            </p:extLst>
          </p:nvPr>
        </p:nvGraphicFramePr>
        <p:xfrm>
          <a:off x="9531602" y="1708491"/>
          <a:ext cx="1848678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24339">
                  <a:extLst>
                    <a:ext uri="{9D8B030D-6E8A-4147-A177-3AD203B41FA5}">
                      <a16:colId xmlns:a16="http://schemas.microsoft.com/office/drawing/2014/main" val="3104358638"/>
                    </a:ext>
                  </a:extLst>
                </a:gridCol>
                <a:gridCol w="924339">
                  <a:extLst>
                    <a:ext uri="{9D8B030D-6E8A-4147-A177-3AD203B41FA5}">
                      <a16:colId xmlns:a16="http://schemas.microsoft.com/office/drawing/2014/main" val="392120125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Vi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Vz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615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0.476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631244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0.698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673473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0.732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352444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0.751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30972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0.765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180163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0.775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463296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0.783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15541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196055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0.796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86643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056084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059096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59397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31595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0.82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29635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0.825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767938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5AF114B-264B-DD66-8F1F-C021C606E2A1}"/>
              </a:ext>
            </a:extLst>
          </p:cNvPr>
          <p:cNvSpPr txBox="1"/>
          <p:nvPr/>
        </p:nvSpPr>
        <p:spPr>
          <a:xfrm>
            <a:off x="4994404" y="347869"/>
            <a:ext cx="2203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V</a:t>
            </a:r>
            <a:r>
              <a:rPr lang="en-US" sz="3600" baseline="-25000" dirty="0"/>
              <a:t>Z</a:t>
            </a:r>
            <a:r>
              <a:rPr lang="en-US" sz="3600" dirty="0"/>
              <a:t> = 9.1 V</a:t>
            </a:r>
          </a:p>
        </p:txBody>
      </p:sp>
    </p:spTree>
    <p:extLst>
      <p:ext uri="{BB962C8B-B14F-4D97-AF65-F5344CB8AC3E}">
        <p14:creationId xmlns:p14="http://schemas.microsoft.com/office/powerpoint/2010/main" val="2449357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6DC4-F0D8-EFB8-9F39-2DB3562BB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51865"/>
          </a:xfrm>
        </p:spPr>
        <p:txBody>
          <a:bodyPr>
            <a:normAutofit/>
          </a:bodyPr>
          <a:lstStyle/>
          <a:p>
            <a:r>
              <a:rPr lang="en-US" sz="4800" dirty="0"/>
              <a:t>Errors and precautions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2C3B61-530E-A590-3A29-EC8778ED67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3" y="2387013"/>
                <a:ext cx="9905999" cy="2681944"/>
              </a:xfrm>
            </p:spPr>
            <p:txBody>
              <a:bodyPr>
                <a:normAutofit/>
              </a:bodyPr>
              <a:lstStyle/>
              <a:p>
                <a:r>
                  <a:rPr lang="en-US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The resistor values chosen were below the diode’s maximum rating.</a:t>
                </a:r>
              </a:p>
              <a:p>
                <a:r>
                  <a:rPr lang="en-US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The maximum power dissipation of the Zener diode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effectLst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𝑍</m:t>
                        </m:r>
                      </m:sub>
                    </m:sSub>
                    <m:r>
                      <a:rPr lang="en-US" b="0" i="1" smtClean="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effectLst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effectLst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𝑍</m:t>
                        </m:r>
                      </m:sub>
                    </m:sSub>
                    <m:r>
                      <a:rPr lang="en-US" b="0" i="1" smtClean="0">
                        <a:effectLst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sSub>
                      <m:sSubPr>
                        <m:ctrlPr>
                          <a:rPr lang="en-US" b="0" i="1" smtClean="0">
                            <a:effectLst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effectLst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dirty="0"/>
                  <a:t> was not exceeded</a:t>
                </a:r>
              </a:p>
              <a:p>
                <a:r>
                  <a:rPr lang="en-US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Proper grounding and secure connections were </a:t>
                </a:r>
                <a:r>
                  <a:rPr lang="en-US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ensured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Some leakage current was also taken into account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2C3B61-530E-A590-3A29-EC8778ED67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3" y="2387013"/>
                <a:ext cx="9905999" cy="2681944"/>
              </a:xfrm>
              <a:blipFill>
                <a:blip r:embed="rId2"/>
                <a:stretch>
                  <a:fillRect l="-1231" t="-3182" r="-1231" b="-4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063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114C0-D96C-AC1C-99CF-A6FC4B36A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2656"/>
          </a:xfrm>
        </p:spPr>
        <p:txBody>
          <a:bodyPr>
            <a:normAutofit/>
          </a:bodyPr>
          <a:lstStyle/>
          <a:p>
            <a:r>
              <a:rPr lang="en-US" sz="48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C061-4187-983C-50E9-4144F2550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169974"/>
            <a:ext cx="9905999" cy="2759834"/>
          </a:xfrm>
        </p:spPr>
        <p:txBody>
          <a:bodyPr/>
          <a:lstStyle/>
          <a:p>
            <a:r>
              <a:rPr lang="en-US" dirty="0"/>
              <a:t>The Zener diode maintained a stable breakdown voltage (𝑉</a:t>
            </a:r>
            <a:r>
              <a:rPr lang="en-US" baseline="-25000" dirty="0"/>
              <a:t>𝑍</a:t>
            </a:r>
            <a:r>
              <a:rPr lang="en-US" dirty="0"/>
              <a:t>) in reverse bias, confirming its role in voltage regulation.</a:t>
            </a:r>
          </a:p>
          <a:p>
            <a:r>
              <a:rPr lang="en-US" dirty="0"/>
              <a:t>It effectively stabilized output voltage under varying input or load conditions.</a:t>
            </a:r>
          </a:p>
          <a:p>
            <a:r>
              <a:rPr lang="en-US" dirty="0"/>
              <a:t>Its non-linear I-V behavior highlights its utility in power supplies and overvoltage protection in circuits.</a:t>
            </a:r>
          </a:p>
        </p:txBody>
      </p:sp>
    </p:spTree>
    <p:extLst>
      <p:ext uri="{BB962C8B-B14F-4D97-AF65-F5344CB8AC3E}">
        <p14:creationId xmlns:p14="http://schemas.microsoft.com/office/powerpoint/2010/main" val="2870066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9A67-D2B7-10D6-B797-C16B4C8A1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355" y="2711345"/>
            <a:ext cx="6661289" cy="1435310"/>
          </a:xfrm>
        </p:spPr>
        <p:txBody>
          <a:bodyPr>
            <a:normAutofit/>
          </a:bodyPr>
          <a:lstStyle/>
          <a:p>
            <a:pPr algn="ctr"/>
            <a:r>
              <a:rPr lang="en-US" sz="9600" dirty="0"/>
              <a:t>Questions </a:t>
            </a:r>
          </a:p>
        </p:txBody>
      </p:sp>
    </p:spTree>
    <p:extLst>
      <p:ext uri="{BB962C8B-B14F-4D97-AF65-F5344CB8AC3E}">
        <p14:creationId xmlns:p14="http://schemas.microsoft.com/office/powerpoint/2010/main" val="947821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634</TotalTime>
  <Words>726</Words>
  <Application>Microsoft Office PowerPoint</Application>
  <PresentationFormat>Widescreen</PresentationFormat>
  <Paragraphs>236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 Narrow</vt:lpstr>
      <vt:lpstr>Arial</vt:lpstr>
      <vt:lpstr>Calibri</vt:lpstr>
      <vt:lpstr>Cambria Math</vt:lpstr>
      <vt:lpstr>Tw Cen MT</vt:lpstr>
      <vt:lpstr>Circuit</vt:lpstr>
      <vt:lpstr>Zener Diodes: An extension of semiconductors </vt:lpstr>
      <vt:lpstr>What are semiconductors? </vt:lpstr>
      <vt:lpstr>Semiconductor diodes</vt:lpstr>
      <vt:lpstr>What are Zener diodes ?</vt:lpstr>
      <vt:lpstr>Comparison of Zener and Avalanche Diodes</vt:lpstr>
      <vt:lpstr>Experiment 1: Determining the Breakdown Voltage (𝑉𝑍) of a Zener Diode</vt:lpstr>
      <vt:lpstr>Setup and method</vt:lpstr>
      <vt:lpstr>Result and Analysis </vt:lpstr>
      <vt:lpstr>PowerPoint Presentation</vt:lpstr>
      <vt:lpstr>PowerPoint Presentation</vt:lpstr>
      <vt:lpstr>PowerPoint Presentation</vt:lpstr>
      <vt:lpstr>Setup and method</vt:lpstr>
      <vt:lpstr>Result and Analysis </vt:lpstr>
      <vt:lpstr>PowerPoint Presentation</vt:lpstr>
      <vt:lpstr>Errors and precautions </vt:lpstr>
      <vt:lpstr>Conclusion</vt:lpstr>
      <vt:lpstr>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 Raunak Singh Bedi</dc:creator>
  <cp:lastModifiedBy>Gur Raunak Singh Bedi</cp:lastModifiedBy>
  <cp:revision>9</cp:revision>
  <dcterms:created xsi:type="dcterms:W3CDTF">2024-12-05T16:06:05Z</dcterms:created>
  <dcterms:modified xsi:type="dcterms:W3CDTF">2024-12-08T13:35:13Z</dcterms:modified>
</cp:coreProperties>
</file>